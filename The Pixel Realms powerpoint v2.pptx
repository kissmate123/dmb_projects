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3"/>
    <p:sldId id="265" r:id="rId14"/>
    <p:sldId id="267" r:id="rId1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4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A1C5FA-8F18-472D-99F3-8721F754F94F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9951A2A-2F8E-45E3-A4EE-910EB51B7575}">
      <dgm:prSet/>
      <dgm:spPr/>
      <dgm:t>
        <a:bodyPr/>
        <a:lstStyle/>
        <a:p>
          <a:r>
            <a:rPr lang="hu-HU"/>
            <a:t>A karakterek életereje</a:t>
          </a:r>
          <a:endParaRPr lang="en-US"/>
        </a:p>
      </dgm:t>
    </dgm:pt>
    <dgm:pt modelId="{542D43D3-CF58-46D6-A4BA-F4AEEACDE2C1}" cxnId="{B43CDBBF-C03C-4785-B07A-012E8A71F578}" type="parTrans">
      <dgm:prSet/>
      <dgm:spPr/>
      <dgm:t>
        <a:bodyPr/>
        <a:lstStyle/>
        <a:p>
          <a:endParaRPr lang="en-US"/>
        </a:p>
      </dgm:t>
    </dgm:pt>
    <dgm:pt modelId="{966E5B2E-A807-4FBC-83BD-C4074DBAD45C}" cxnId="{B43CDBBF-C03C-4785-B07A-012E8A71F578}" type="sibTrans">
      <dgm:prSet/>
      <dgm:spPr/>
      <dgm:t>
        <a:bodyPr/>
        <a:lstStyle/>
        <a:p>
          <a:endParaRPr lang="en-US"/>
        </a:p>
      </dgm:t>
    </dgm:pt>
    <dgm:pt modelId="{DCA036E6-DDFE-4240-98F8-ED4880CA70B2}">
      <dgm:prSet/>
      <dgm:spPr/>
      <dgm:t>
        <a:bodyPr/>
        <a:lstStyle/>
        <a:p>
          <a:r>
            <a:rPr lang="hu-HU"/>
            <a:t>Sebzés karddal és nyíllal</a:t>
          </a:r>
          <a:endParaRPr lang="en-US"/>
        </a:p>
      </dgm:t>
    </dgm:pt>
    <dgm:pt modelId="{10B0B262-5436-48EA-867A-D82A064FE076}" cxnId="{10FB6613-81E2-4125-A8AE-0D97EF78B2FD}" type="parTrans">
      <dgm:prSet/>
      <dgm:spPr/>
      <dgm:t>
        <a:bodyPr/>
        <a:lstStyle/>
        <a:p>
          <a:endParaRPr lang="en-US"/>
        </a:p>
      </dgm:t>
    </dgm:pt>
    <dgm:pt modelId="{A56C83DF-8F13-4873-80FE-2DE7553FB750}" cxnId="{10FB6613-81E2-4125-A8AE-0D97EF78B2FD}" type="sibTrans">
      <dgm:prSet/>
      <dgm:spPr/>
      <dgm:t>
        <a:bodyPr/>
        <a:lstStyle/>
        <a:p>
          <a:endParaRPr lang="en-US"/>
        </a:p>
      </dgm:t>
    </dgm:pt>
    <dgm:pt modelId="{6692A2CF-7A8E-4910-8D80-79EE60C7591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hu-HU" altLang="en-US"/>
            <a:t>Történet átvezetők</a:t>
          </a:r>
          <a:r>
            <a:rPr lang="hu-HU" altLang="en-US"/>
            <a:t/>
          </a:r>
          <a:endParaRPr lang="hu-HU" altLang="en-US"/>
        </a:p>
      </dgm:t>
    </dgm:pt>
    <dgm:pt modelId="{0406C087-258C-40C8-8147-88E6824DCDF3}" cxnId="{C3854C60-BDD1-46DC-9812-9CA425A81890}" type="parTrans">
      <dgm:prSet/>
      <dgm:spPr/>
      <dgm:t>
        <a:bodyPr/>
        <a:lstStyle/>
        <a:p>
          <a:endParaRPr lang="en-US"/>
        </a:p>
      </dgm:t>
    </dgm:pt>
    <dgm:pt modelId="{D2544FD6-9277-494E-A537-D37C7D87CA2B}" cxnId="{C3854C60-BDD1-46DC-9812-9CA425A81890}" type="sibTrans">
      <dgm:prSet/>
      <dgm:spPr/>
      <dgm:t>
        <a:bodyPr/>
        <a:lstStyle/>
        <a:p>
          <a:endParaRPr lang="en-US"/>
        </a:p>
      </dgm:t>
    </dgm:pt>
    <dgm:pt modelId="{B0D2DA52-A33E-4E2A-A686-1A87D98ECBA3}">
      <dgm:prSet/>
      <dgm:spPr/>
      <dgm:t>
        <a:bodyPr/>
        <a:lstStyle/>
        <a:p>
          <a:r>
            <a:rPr lang="hu-HU"/>
            <a:t>Animált mozgás ás harc animációk</a:t>
          </a:r>
          <a:endParaRPr lang="en-US"/>
        </a:p>
      </dgm:t>
    </dgm:pt>
    <dgm:pt modelId="{E4C22F7E-6B52-41A7-8A66-B04A835465A6}" cxnId="{980AA9EC-50FD-4ED7-A126-0D0005597175}" type="parTrans">
      <dgm:prSet/>
      <dgm:spPr/>
      <dgm:t>
        <a:bodyPr/>
        <a:lstStyle/>
        <a:p>
          <a:endParaRPr lang="en-US"/>
        </a:p>
      </dgm:t>
    </dgm:pt>
    <dgm:pt modelId="{F4873426-ACE9-4D9C-B49B-58AA4F1B6F7C}" cxnId="{980AA9EC-50FD-4ED7-A126-0D0005597175}" type="sibTrans">
      <dgm:prSet/>
      <dgm:spPr/>
      <dgm:t>
        <a:bodyPr/>
        <a:lstStyle/>
        <a:p>
          <a:endParaRPr lang="en-US"/>
        </a:p>
      </dgm:t>
    </dgm:pt>
    <dgm:pt modelId="{9D20C1BD-B20A-439B-B732-F677BB48967C}">
      <dgm:prSet/>
      <dgm:spPr/>
      <dgm:t>
        <a:bodyPr/>
        <a:lstStyle/>
        <a:p>
          <a:r>
            <a:rPr lang="hu-HU"/>
            <a:t>Fő menü és a játékbeli menü</a:t>
          </a:r>
          <a:endParaRPr lang="en-US"/>
        </a:p>
      </dgm:t>
    </dgm:pt>
    <dgm:pt modelId="{3641E7EE-4AB9-45A0-9320-B94A454B3CC1}" cxnId="{BAE3A8F1-86F3-4BB3-9663-87E9196C69AE}" type="parTrans">
      <dgm:prSet/>
      <dgm:spPr/>
      <dgm:t>
        <a:bodyPr/>
        <a:lstStyle/>
        <a:p>
          <a:endParaRPr lang="en-US"/>
        </a:p>
      </dgm:t>
    </dgm:pt>
    <dgm:pt modelId="{659A7ABC-6538-473A-840C-1D73592FBAB1}" cxnId="{BAE3A8F1-86F3-4BB3-9663-87E9196C69AE}" type="sibTrans">
      <dgm:prSet/>
      <dgm:spPr/>
      <dgm:t>
        <a:bodyPr/>
        <a:lstStyle/>
        <a:p>
          <a:endParaRPr lang="en-US"/>
        </a:p>
      </dgm:t>
    </dgm:pt>
    <dgm:pt modelId="{0D62A45A-AF56-4598-BD1E-727EB2466EC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hu-HU" altLang="en-US"/>
            <a:t>Lakosokkal való beszélgetés</a:t>
          </a:r>
          <a:endParaRPr lang="hu-HU" altLang="en-US"/>
        </a:p>
      </dgm:t>
    </dgm:pt>
    <dgm:pt modelId="{7BAC3F92-1A6F-43CC-8324-C198FCFE6928}" cxnId="{ABB71F60-83DE-4157-A863-91A9BDD7D3A0}" type="parTrans">
      <dgm:prSet/>
      <dgm:spPr/>
      <dgm:t>
        <a:bodyPr/>
        <a:lstStyle/>
        <a:p>
          <a:endParaRPr lang="en-US"/>
        </a:p>
      </dgm:t>
    </dgm:pt>
    <dgm:pt modelId="{B7709757-19C8-4555-9EB9-4B774D1A182F}" cxnId="{ABB71F60-83DE-4157-A863-91A9BDD7D3A0}" type="sibTrans">
      <dgm:prSet/>
      <dgm:spPr/>
      <dgm:t>
        <a:bodyPr/>
        <a:lstStyle/>
        <a:p>
          <a:endParaRPr lang="en-US"/>
        </a:p>
      </dgm:t>
    </dgm:pt>
    <dgm:pt modelId="{97C9A208-3829-4A9F-9C34-C085C83DCAEC}" type="pres">
      <dgm:prSet presAssocID="{37A1C5FA-8F18-472D-99F3-8721F754F94F}" presName="diagram" presStyleCnt="0">
        <dgm:presLayoutVars>
          <dgm:dir/>
          <dgm:resizeHandles val="exact"/>
        </dgm:presLayoutVars>
      </dgm:prSet>
      <dgm:spPr/>
    </dgm:pt>
    <dgm:pt modelId="{2EF4B199-2857-4419-9C73-3DEFA64F9082}" type="pres">
      <dgm:prSet presAssocID="{D9951A2A-2F8E-45E3-A4EE-910EB51B7575}" presName="node" presStyleLbl="node1" presStyleIdx="0" presStyleCnt="6">
        <dgm:presLayoutVars>
          <dgm:bulletEnabled val="1"/>
        </dgm:presLayoutVars>
      </dgm:prSet>
      <dgm:spPr/>
    </dgm:pt>
    <dgm:pt modelId="{33137989-CFA1-4732-8024-CE94E261D5B2}" type="pres">
      <dgm:prSet presAssocID="{966E5B2E-A807-4FBC-83BD-C4074DBAD45C}" presName="sibTrans" presStyleCnt="0"/>
      <dgm:spPr/>
    </dgm:pt>
    <dgm:pt modelId="{EE0CF62D-1CF1-4062-8109-484CFB734400}" type="pres">
      <dgm:prSet presAssocID="{DCA036E6-DDFE-4240-98F8-ED4880CA70B2}" presName="node" presStyleLbl="node1" presStyleIdx="1" presStyleCnt="6">
        <dgm:presLayoutVars>
          <dgm:bulletEnabled val="1"/>
        </dgm:presLayoutVars>
      </dgm:prSet>
      <dgm:spPr/>
    </dgm:pt>
    <dgm:pt modelId="{B9EF284D-EA09-47D5-BEA2-38395FD37915}" type="pres">
      <dgm:prSet presAssocID="{A56C83DF-8F13-4873-80FE-2DE7553FB750}" presName="sibTrans" presStyleCnt="0"/>
      <dgm:spPr/>
    </dgm:pt>
    <dgm:pt modelId="{F48E0481-4FE2-4574-91CA-12628D59ED37}" type="pres">
      <dgm:prSet presAssocID="{6692A2CF-7A8E-4910-8D80-79EE60C7591E}" presName="node" presStyleLbl="node1" presStyleIdx="2" presStyleCnt="6">
        <dgm:presLayoutVars>
          <dgm:bulletEnabled val="1"/>
        </dgm:presLayoutVars>
      </dgm:prSet>
      <dgm:spPr/>
    </dgm:pt>
    <dgm:pt modelId="{32D4A72A-C888-40B4-89E5-5DF07CCB258C}" type="pres">
      <dgm:prSet presAssocID="{D2544FD6-9277-494E-A537-D37C7D87CA2B}" presName="sibTrans" presStyleCnt="0"/>
      <dgm:spPr/>
    </dgm:pt>
    <dgm:pt modelId="{FE4BF75F-F54F-441A-B27A-475B6FA7CF7D}" type="pres">
      <dgm:prSet presAssocID="{B0D2DA52-A33E-4E2A-A686-1A87D98ECBA3}" presName="node" presStyleLbl="node1" presStyleIdx="3" presStyleCnt="6">
        <dgm:presLayoutVars>
          <dgm:bulletEnabled val="1"/>
        </dgm:presLayoutVars>
      </dgm:prSet>
      <dgm:spPr/>
    </dgm:pt>
    <dgm:pt modelId="{E85E1417-AD10-49DC-8923-D2E5C09CA5DC}" type="pres">
      <dgm:prSet presAssocID="{F4873426-ACE9-4D9C-B49B-58AA4F1B6F7C}" presName="sibTrans" presStyleCnt="0"/>
      <dgm:spPr/>
    </dgm:pt>
    <dgm:pt modelId="{89E84281-0358-45F7-9398-75820636EF0F}" type="pres">
      <dgm:prSet presAssocID="{9D20C1BD-B20A-439B-B732-F677BB48967C}" presName="node" presStyleLbl="node1" presStyleIdx="4" presStyleCnt="6">
        <dgm:presLayoutVars>
          <dgm:bulletEnabled val="1"/>
        </dgm:presLayoutVars>
      </dgm:prSet>
      <dgm:spPr/>
    </dgm:pt>
    <dgm:pt modelId="{2880F193-A432-415E-945A-051CB5196CA0}" type="pres">
      <dgm:prSet presAssocID="{659A7ABC-6538-473A-840C-1D73592FBAB1}" presName="sibTrans" presStyleCnt="0"/>
      <dgm:spPr/>
    </dgm:pt>
    <dgm:pt modelId="{7C7694E4-2D4E-47AB-9C6C-54829499BFBF}" type="pres">
      <dgm:prSet presAssocID="{0D62A45A-AF56-4598-BD1E-727EB2466ECA}" presName="node" presStyleLbl="node1" presStyleIdx="5" presStyleCnt="6">
        <dgm:presLayoutVars>
          <dgm:bulletEnabled val="1"/>
        </dgm:presLayoutVars>
      </dgm:prSet>
      <dgm:spPr/>
    </dgm:pt>
  </dgm:ptLst>
  <dgm:cxnLst>
    <dgm:cxn modelId="{B43CDBBF-C03C-4785-B07A-012E8A71F578}" srcId="{37A1C5FA-8F18-472D-99F3-8721F754F94F}" destId="{D9951A2A-2F8E-45E3-A4EE-910EB51B7575}" srcOrd="0" destOrd="0" parTransId="{542D43D3-CF58-46D6-A4BA-F4AEEACDE2C1}" sibTransId="{966E5B2E-A807-4FBC-83BD-C4074DBAD45C}"/>
    <dgm:cxn modelId="{10FB6613-81E2-4125-A8AE-0D97EF78B2FD}" srcId="{37A1C5FA-8F18-472D-99F3-8721F754F94F}" destId="{DCA036E6-DDFE-4240-98F8-ED4880CA70B2}" srcOrd="1" destOrd="0" parTransId="{10B0B262-5436-48EA-867A-D82A064FE076}" sibTransId="{A56C83DF-8F13-4873-80FE-2DE7553FB750}"/>
    <dgm:cxn modelId="{C3854C60-BDD1-46DC-9812-9CA425A81890}" srcId="{37A1C5FA-8F18-472D-99F3-8721F754F94F}" destId="{6692A2CF-7A8E-4910-8D80-79EE60C7591E}" srcOrd="2" destOrd="0" parTransId="{0406C087-258C-40C8-8147-88E6824DCDF3}" sibTransId="{D2544FD6-9277-494E-A537-D37C7D87CA2B}"/>
    <dgm:cxn modelId="{980AA9EC-50FD-4ED7-A126-0D0005597175}" srcId="{37A1C5FA-8F18-472D-99F3-8721F754F94F}" destId="{B0D2DA52-A33E-4E2A-A686-1A87D98ECBA3}" srcOrd="3" destOrd="0" parTransId="{E4C22F7E-6B52-41A7-8A66-B04A835465A6}" sibTransId="{F4873426-ACE9-4D9C-B49B-58AA4F1B6F7C}"/>
    <dgm:cxn modelId="{BAE3A8F1-86F3-4BB3-9663-87E9196C69AE}" srcId="{37A1C5FA-8F18-472D-99F3-8721F754F94F}" destId="{9D20C1BD-B20A-439B-B732-F677BB48967C}" srcOrd="4" destOrd="0" parTransId="{3641E7EE-4AB9-45A0-9320-B94A454B3CC1}" sibTransId="{659A7ABC-6538-473A-840C-1D73592FBAB1}"/>
    <dgm:cxn modelId="{ABB71F60-83DE-4157-A863-91A9BDD7D3A0}" srcId="{37A1C5FA-8F18-472D-99F3-8721F754F94F}" destId="{0D62A45A-AF56-4598-BD1E-727EB2466ECA}" srcOrd="5" destOrd="0" parTransId="{7BAC3F92-1A6F-43CC-8324-C198FCFE6928}" sibTransId="{B7709757-19C8-4555-9EB9-4B774D1A182F}"/>
    <dgm:cxn modelId="{CC4FE42E-92FE-4A16-8B6C-E3C8F5DA99CD}" type="presOf" srcId="{37A1C5FA-8F18-472D-99F3-8721F754F94F}" destId="{97C9A208-3829-4A9F-9C34-C085C83DCAEC}" srcOrd="0" destOrd="0" presId="urn:microsoft.com/office/officeart/2005/8/layout/default"/>
    <dgm:cxn modelId="{79A3D2CE-001E-40CA-9663-964C6C13F7D9}" type="presParOf" srcId="{97C9A208-3829-4A9F-9C34-C085C83DCAEC}" destId="{2EF4B199-2857-4419-9C73-3DEFA64F9082}" srcOrd="0" destOrd="0" presId="urn:microsoft.com/office/officeart/2005/8/layout/default"/>
    <dgm:cxn modelId="{0B42856B-E8DE-4301-B16C-96A130E83E4B}" type="presOf" srcId="{D9951A2A-2F8E-45E3-A4EE-910EB51B7575}" destId="{2EF4B199-2857-4419-9C73-3DEFA64F9082}" srcOrd="0" destOrd="0" presId="urn:microsoft.com/office/officeart/2005/8/layout/default"/>
    <dgm:cxn modelId="{B2AA6507-0911-43C1-AEBD-66ADBE769F47}" type="presParOf" srcId="{97C9A208-3829-4A9F-9C34-C085C83DCAEC}" destId="{33137989-CFA1-4732-8024-CE94E261D5B2}" srcOrd="1" destOrd="0" presId="urn:microsoft.com/office/officeart/2005/8/layout/default"/>
    <dgm:cxn modelId="{F4904650-F085-4421-A045-84245463BA06}" type="presParOf" srcId="{97C9A208-3829-4A9F-9C34-C085C83DCAEC}" destId="{EE0CF62D-1CF1-4062-8109-484CFB734400}" srcOrd="2" destOrd="0" presId="urn:microsoft.com/office/officeart/2005/8/layout/default"/>
    <dgm:cxn modelId="{7E1F6E59-5FFF-4D55-876D-7FC7CC8A2F6F}" type="presOf" srcId="{DCA036E6-DDFE-4240-98F8-ED4880CA70B2}" destId="{EE0CF62D-1CF1-4062-8109-484CFB734400}" srcOrd="0" destOrd="0" presId="urn:microsoft.com/office/officeart/2005/8/layout/default"/>
    <dgm:cxn modelId="{02002FC9-1E43-4230-AED2-556EBE8ED35B}" type="presParOf" srcId="{97C9A208-3829-4A9F-9C34-C085C83DCAEC}" destId="{B9EF284D-EA09-47D5-BEA2-38395FD37915}" srcOrd="3" destOrd="0" presId="urn:microsoft.com/office/officeart/2005/8/layout/default"/>
    <dgm:cxn modelId="{176C3894-C73E-41AF-A3F8-0C472CE4B8D6}" type="presParOf" srcId="{97C9A208-3829-4A9F-9C34-C085C83DCAEC}" destId="{F48E0481-4FE2-4574-91CA-12628D59ED37}" srcOrd="4" destOrd="0" presId="urn:microsoft.com/office/officeart/2005/8/layout/default"/>
    <dgm:cxn modelId="{20171FFF-5831-4769-BB7F-9AC3DA7887EA}" type="presOf" srcId="{6692A2CF-7A8E-4910-8D80-79EE60C7591E}" destId="{F48E0481-4FE2-4574-91CA-12628D59ED37}" srcOrd="0" destOrd="0" presId="urn:microsoft.com/office/officeart/2005/8/layout/default"/>
    <dgm:cxn modelId="{A2CB6E05-13B3-44EB-8A0E-EA17929885F3}" type="presParOf" srcId="{97C9A208-3829-4A9F-9C34-C085C83DCAEC}" destId="{32D4A72A-C888-40B4-89E5-5DF07CCB258C}" srcOrd="5" destOrd="0" presId="urn:microsoft.com/office/officeart/2005/8/layout/default"/>
    <dgm:cxn modelId="{0C92C779-4A6B-4CBE-BDED-2D0C1FA365D5}" type="presParOf" srcId="{97C9A208-3829-4A9F-9C34-C085C83DCAEC}" destId="{FE4BF75F-F54F-441A-B27A-475B6FA7CF7D}" srcOrd="6" destOrd="0" presId="urn:microsoft.com/office/officeart/2005/8/layout/default"/>
    <dgm:cxn modelId="{33627663-E126-4219-B108-9C192ABE3A50}" type="presOf" srcId="{B0D2DA52-A33E-4E2A-A686-1A87D98ECBA3}" destId="{FE4BF75F-F54F-441A-B27A-475B6FA7CF7D}" srcOrd="0" destOrd="0" presId="urn:microsoft.com/office/officeart/2005/8/layout/default"/>
    <dgm:cxn modelId="{58DDAFD3-3CC5-4CA3-9C50-B79FE4C99CA9}" type="presParOf" srcId="{97C9A208-3829-4A9F-9C34-C085C83DCAEC}" destId="{E85E1417-AD10-49DC-8923-D2E5C09CA5DC}" srcOrd="7" destOrd="0" presId="urn:microsoft.com/office/officeart/2005/8/layout/default"/>
    <dgm:cxn modelId="{905E7E19-2F36-4AD6-8EFE-76F08CDDA3D0}" type="presParOf" srcId="{97C9A208-3829-4A9F-9C34-C085C83DCAEC}" destId="{89E84281-0358-45F7-9398-75820636EF0F}" srcOrd="8" destOrd="0" presId="urn:microsoft.com/office/officeart/2005/8/layout/default"/>
    <dgm:cxn modelId="{BCA730F5-8830-4E1B-8EA0-EB8554EB70A3}" type="presOf" srcId="{9D20C1BD-B20A-439B-B732-F677BB48967C}" destId="{89E84281-0358-45F7-9398-75820636EF0F}" srcOrd="0" destOrd="0" presId="urn:microsoft.com/office/officeart/2005/8/layout/default"/>
    <dgm:cxn modelId="{75B13DFC-30FE-40E9-BFAD-96E172C489ED}" type="presParOf" srcId="{97C9A208-3829-4A9F-9C34-C085C83DCAEC}" destId="{2880F193-A432-415E-945A-051CB5196CA0}" srcOrd="9" destOrd="0" presId="urn:microsoft.com/office/officeart/2005/8/layout/default"/>
    <dgm:cxn modelId="{A66E3D2A-4D58-41AC-8376-043FFC58B3C4}" type="presParOf" srcId="{97C9A208-3829-4A9F-9C34-C085C83DCAEC}" destId="{7C7694E4-2D4E-47AB-9C6C-54829499BFBF}" srcOrd="10" destOrd="0" presId="urn:microsoft.com/office/officeart/2005/8/layout/default"/>
    <dgm:cxn modelId="{5A8D0338-9367-4F0C-AB9E-45A609F5DE0B}" type="presOf" srcId="{0D62A45A-AF56-4598-BD1E-727EB2466ECA}" destId="{7C7694E4-2D4E-47AB-9C6C-54829499BFBF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515600" cy="4351338"/>
        <a:chOff x="0" y="0"/>
        <a:chExt cx="10515600" cy="4351338"/>
      </a:xfrm>
    </dsp:grpSpPr>
    <dsp:sp modelId="{2EF4B199-2857-4419-9C73-3DEFA64F9082}">
      <dsp:nvSpPr>
        <dsp:cNvPr id="3" name="Rectangles 2"/>
        <dsp:cNvSpPr/>
      </dsp:nvSpPr>
      <dsp:spPr bwMode="white">
        <a:xfrm>
          <a:off x="-16" y="39679"/>
          <a:ext cx="3286140" cy="1971684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33350" tIns="133350" rIns="133350" bIns="133350" anchor="ctr"/>
        <a:lstStyle>
          <a:lvl1pPr algn="ctr">
            <a:defRPr sz="35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hu-HU"/>
            <a:t>A karakterek életereje</a:t>
          </a:r>
          <a:endParaRPr lang="en-US"/>
        </a:p>
      </dsp:txBody>
      <dsp:txXfrm>
        <a:off x="-16" y="39679"/>
        <a:ext cx="3286140" cy="1971684"/>
      </dsp:txXfrm>
    </dsp:sp>
    <dsp:sp modelId="{EE0CF62D-1CF1-4062-8109-484CFB734400}">
      <dsp:nvSpPr>
        <dsp:cNvPr id="4" name="Rectangles 3"/>
        <dsp:cNvSpPr/>
      </dsp:nvSpPr>
      <dsp:spPr bwMode="white">
        <a:xfrm>
          <a:off x="3614738" y="39679"/>
          <a:ext cx="3286140" cy="1971684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33350" tIns="133350" rIns="133350" bIns="133350" anchor="ctr"/>
        <a:lstStyle>
          <a:lvl1pPr algn="ctr">
            <a:defRPr sz="35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hu-HU"/>
            <a:t>Sebzés karddal és nyíllal</a:t>
          </a:r>
          <a:endParaRPr lang="en-US"/>
        </a:p>
      </dsp:txBody>
      <dsp:txXfrm>
        <a:off x="3614738" y="39679"/>
        <a:ext cx="3286140" cy="1971684"/>
      </dsp:txXfrm>
    </dsp:sp>
    <dsp:sp modelId="{F48E0481-4FE2-4574-91CA-12628D59ED37}">
      <dsp:nvSpPr>
        <dsp:cNvPr id="5" name="Rectangles 4"/>
        <dsp:cNvSpPr/>
      </dsp:nvSpPr>
      <dsp:spPr bwMode="white">
        <a:xfrm>
          <a:off x="7229492" y="39679"/>
          <a:ext cx="3286140" cy="1971684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33350" tIns="133350" rIns="133350" bIns="133350" anchor="ctr"/>
        <a:lstStyle>
          <a:lvl1pPr algn="ctr">
            <a:defRPr sz="35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altLang="en-US"/>
            <a:t>Történet átvezetők</a:t>
          </a:r>
          <a:endParaRPr lang="hu-HU" altLang="en-US"/>
        </a:p>
      </dsp:txBody>
      <dsp:txXfrm>
        <a:off x="7229492" y="39679"/>
        <a:ext cx="3286140" cy="1971684"/>
      </dsp:txXfrm>
    </dsp:sp>
    <dsp:sp modelId="{FE4BF75F-F54F-441A-B27A-475B6FA7CF7D}">
      <dsp:nvSpPr>
        <dsp:cNvPr id="6" name="Rectangles 5"/>
        <dsp:cNvSpPr/>
      </dsp:nvSpPr>
      <dsp:spPr bwMode="white">
        <a:xfrm>
          <a:off x="-16" y="2339974"/>
          <a:ext cx="3286140" cy="1971684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33350" tIns="133350" rIns="133350" bIns="133350" anchor="ctr"/>
        <a:lstStyle>
          <a:lvl1pPr algn="ctr">
            <a:defRPr sz="35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hu-HU"/>
            <a:t>Animált mozgás ás harc animációk</a:t>
          </a:r>
          <a:endParaRPr lang="en-US"/>
        </a:p>
      </dsp:txBody>
      <dsp:txXfrm>
        <a:off x="-16" y="2339974"/>
        <a:ext cx="3286140" cy="1971684"/>
      </dsp:txXfrm>
    </dsp:sp>
    <dsp:sp modelId="{89E84281-0358-45F7-9398-75820636EF0F}">
      <dsp:nvSpPr>
        <dsp:cNvPr id="7" name="Rectangles 6"/>
        <dsp:cNvSpPr/>
      </dsp:nvSpPr>
      <dsp:spPr bwMode="white">
        <a:xfrm>
          <a:off x="3614738" y="2339974"/>
          <a:ext cx="3286140" cy="1971684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33350" tIns="133350" rIns="133350" bIns="133350" anchor="ctr"/>
        <a:lstStyle>
          <a:lvl1pPr algn="ctr">
            <a:defRPr sz="35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hu-HU"/>
            <a:t>Fő menü és a játékbeli menü</a:t>
          </a:r>
          <a:endParaRPr lang="en-US"/>
        </a:p>
      </dsp:txBody>
      <dsp:txXfrm>
        <a:off x="3614738" y="2339974"/>
        <a:ext cx="3286140" cy="1971684"/>
      </dsp:txXfrm>
    </dsp:sp>
    <dsp:sp modelId="{7C7694E4-2D4E-47AB-9C6C-54829499BFBF}">
      <dsp:nvSpPr>
        <dsp:cNvPr id="8" name="Rectangles 7"/>
        <dsp:cNvSpPr/>
      </dsp:nvSpPr>
      <dsp:spPr bwMode="white">
        <a:xfrm>
          <a:off x="7229492" y="2339974"/>
          <a:ext cx="3286140" cy="1971684"/>
        </a:xfrm>
        <a:prstGeom prst="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133350" tIns="133350" rIns="133350" bIns="133350" anchor="ctr"/>
        <a:lstStyle>
          <a:lvl1pPr algn="ctr">
            <a:defRPr sz="35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altLang="en-US"/>
            <a:t>Lakosokkal való beszélgetés</a:t>
          </a:r>
          <a:endParaRPr lang="hu-HU" altLang="en-US"/>
        </a:p>
      </dsp:txBody>
      <dsp:txXfrm>
        <a:off x="7229492" y="2339974"/>
        <a:ext cx="3286140" cy="19716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off" val="ctr"/>
          <dgm:param type="contDir" val="sameDir"/>
          <dgm:param type="grDir" val="tL"/>
          <dgm:param type="flowDir" val="row"/>
        </dgm:alg>
      </dgm:if>
      <dgm:else name="Name2">
        <dgm:alg type="snake">
          <dgm:param type="off" val="ctr"/>
          <dgm:param type="contDir" val="same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612C1-02B2-4CC8-8F0D-41C58A009655}" type="datetimeFigureOut">
              <a:rPr lang="hu-HU" smtClean="0"/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341422-5D03-496E-A0ED-DE42D44D3467}" type="slidenum">
              <a:rPr lang="hu-HU" smtClean="0"/>
            </a:fld>
            <a:endParaRPr 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341422-5D03-496E-A0ED-DE42D44D3467}" type="slidenum">
              <a:rPr lang="hu-HU" smtClean="0"/>
            </a:fld>
            <a:endParaRPr lang="hu-H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2B90-C961-49C7-914A-5982BD543DF2}" type="datetimeFigureOut">
              <a:rPr lang="hu-HU" smtClean="0"/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683C-C357-48A6-B7C3-A9AAB77A57CE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2B90-C961-49C7-914A-5982BD543DF2}" type="datetimeFigureOut">
              <a:rPr lang="hu-HU" smtClean="0"/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683C-C357-48A6-B7C3-A9AAB77A57CE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2B90-C961-49C7-914A-5982BD543DF2}" type="datetimeFigureOut">
              <a:rPr lang="hu-HU" smtClean="0"/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683C-C357-48A6-B7C3-A9AAB77A57CE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2B90-C961-49C7-914A-5982BD543DF2}" type="datetimeFigureOut">
              <a:rPr lang="hu-HU" smtClean="0"/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683C-C357-48A6-B7C3-A9AAB77A57CE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6" name="Tartalom helye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2B90-C961-49C7-914A-5982BD543DF2}" type="datetimeFigureOut">
              <a:rPr lang="hu-HU" smtClean="0"/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683C-C357-48A6-B7C3-A9AAB77A57CE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2B90-C961-49C7-914A-5982BD543DF2}" type="datetimeFigureOut">
              <a:rPr lang="hu-HU" smtClean="0"/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683C-C357-48A6-B7C3-A9AAB77A57CE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2B90-C961-49C7-914A-5982BD543DF2}" type="datetimeFigureOut">
              <a:rPr lang="hu-HU" smtClean="0"/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683C-C357-48A6-B7C3-A9AAB77A57CE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2B90-C961-49C7-914A-5982BD543DF2}" type="datetimeFigureOut">
              <a:rPr lang="hu-HU" smtClean="0"/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683C-C357-48A6-B7C3-A9AAB77A57CE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2B90-C961-49C7-914A-5982BD543DF2}" type="datetimeFigureOut">
              <a:rPr lang="hu-HU" smtClean="0"/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683C-C357-48A6-B7C3-A9AAB77A57CE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2B90-C961-49C7-914A-5982BD543DF2}" type="datetimeFigureOut">
              <a:rPr lang="hu-HU" smtClean="0"/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683C-C357-48A6-B7C3-A9AAB77A57CE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62B90-C961-49C7-914A-5982BD543DF2}" type="datetimeFigureOut">
              <a:rPr lang="hu-HU" smtClean="0"/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1683C-C357-48A6-B7C3-A9AAB77A57CE}" type="slidenum">
              <a:rPr lang="hu-HU" smtClean="0"/>
            </a:fld>
            <a:endParaRPr lang="hu-H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  <a:endParaRPr lang="hu-HU"/>
          </a:p>
          <a:p>
            <a:pPr lvl="1"/>
            <a:r>
              <a:rPr lang="hu-HU"/>
              <a:t>Második szint</a:t>
            </a:r>
            <a:endParaRPr lang="hu-HU"/>
          </a:p>
          <a:p>
            <a:pPr lvl="2"/>
            <a:r>
              <a:rPr lang="hu-HU"/>
              <a:t>Harmadik szint</a:t>
            </a:r>
            <a:endParaRPr lang="hu-HU"/>
          </a:p>
          <a:p>
            <a:pPr lvl="3"/>
            <a:r>
              <a:rPr lang="hu-HU"/>
              <a:t>Negyedik szint</a:t>
            </a:r>
            <a:endParaRPr lang="hu-HU"/>
          </a:p>
          <a:p>
            <a:pPr lvl="4"/>
            <a:r>
              <a:rPr lang="hu-HU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62B90-C961-49C7-914A-5982BD543DF2}" type="datetimeFigureOut">
              <a:rPr lang="hu-HU" smtClean="0"/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F1683C-C357-48A6-B7C3-A9AAB77A57CE}" type="slidenum">
              <a:rPr lang="hu-HU" smtClean="0"/>
            </a:fld>
            <a:endParaRPr lang="hu-HU"/>
          </a:p>
        </p:txBody>
      </p:sp>
      <p:sp>
        <p:nvSpPr>
          <p:cNvPr id="7" name="Szövegdoboz 6"/>
          <p:cNvSpPr txBox="1"/>
          <p:nvPr userDrawn="1"/>
        </p:nvSpPr>
        <p:spPr>
          <a:xfrm>
            <a:off x="10978195" y="6582975"/>
            <a:ext cx="1213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u-HU" sz="1200" dirty="0" err="1">
                <a:solidFill>
                  <a:schemeClr val="bg1"/>
                </a:solidFill>
              </a:rPr>
              <a:t>dmb</a:t>
            </a:r>
            <a:r>
              <a:rPr lang="hu-HU" sz="1200" dirty="0">
                <a:solidFill>
                  <a:schemeClr val="bg1"/>
                </a:solidFill>
              </a:rPr>
              <a:t> </a:t>
            </a:r>
            <a:r>
              <a:rPr lang="hu-HU" sz="1200" dirty="0" err="1">
                <a:solidFill>
                  <a:schemeClr val="bg1"/>
                </a:solidFill>
              </a:rPr>
              <a:t>projects</a:t>
            </a:r>
            <a:r>
              <a:rPr lang="hu-HU" sz="1200" dirty="0">
                <a:solidFill>
                  <a:schemeClr val="bg1"/>
                </a:solidFill>
              </a:rPr>
              <a:t>©</a:t>
            </a:r>
            <a:endParaRPr lang="hu-HU" sz="12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GIF"/><Relationship Id="rId1" Type="http://schemas.openxmlformats.org/officeDocument/2006/relationships/image" Target="../media/image7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0" y="0"/>
            <a:ext cx="5495827" cy="886120"/>
          </a:xfrm>
        </p:spPr>
        <p:txBody>
          <a:bodyPr>
            <a:normAutofit fontScale="90000"/>
          </a:bodyPr>
          <a:lstStyle/>
          <a:p>
            <a:r>
              <a:rPr lang="hu-HU" sz="6000" b="1" dirty="0">
                <a:solidFill>
                  <a:schemeClr val="bg1"/>
                </a:solidFill>
              </a:rPr>
              <a:t>The Pixel </a:t>
            </a:r>
            <a:r>
              <a:rPr lang="hu-HU" sz="6000" b="1" dirty="0" err="1">
                <a:solidFill>
                  <a:schemeClr val="bg1"/>
                </a:solidFill>
              </a:rPr>
              <a:t>Realms</a:t>
            </a:r>
            <a:endParaRPr lang="hu-HU" b="1" dirty="0">
              <a:solidFill>
                <a:schemeClr val="bg1"/>
              </a:solidFill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0" y="6445577"/>
            <a:ext cx="6828148" cy="412423"/>
          </a:xfrm>
        </p:spPr>
        <p:txBody>
          <a:bodyPr>
            <a:normAutofit lnSpcReduction="10000"/>
          </a:bodyPr>
          <a:lstStyle/>
          <a:p>
            <a:r>
              <a:rPr lang="hu-HU" dirty="0">
                <a:solidFill>
                  <a:schemeClr val="bg1"/>
                </a:solidFill>
              </a:rPr>
              <a:t>Készítette: Kiss Máté, Tamás Bence, Sütő Dominik</a:t>
            </a:r>
            <a:endParaRPr lang="hu-H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chemeClr val="bg1"/>
                </a:solidFill>
              </a:rPr>
              <a:t>Prezentáció témái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38200" y="2126615"/>
            <a:ext cx="10515600" cy="3903345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</a:rPr>
              <a:t>A projekt háttere és célkitűzései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</a:rPr>
              <a:t>Technológiai alapok és fejlesztési eszközök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</a:rPr>
              <a:t>A portál főoldalai és interaktív jellemzői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</a:rPr>
              <a:t>Design koncepciók és felhasználói élmény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1"/>
                </a:solidFill>
              </a:rPr>
              <a:t>Kész funkciók, tervezett bővítések és jövőbeli fejlesztések</a:t>
            </a:r>
            <a:endParaRPr lang="hu-HU" dirty="0">
              <a:solidFill>
                <a:schemeClr val="bg1"/>
              </a:solidFill>
            </a:endParaRPr>
          </a:p>
          <a:p>
            <a:pPr>
              <a:lnSpc>
                <a:spcPct val="140000"/>
              </a:lnSpc>
            </a:pPr>
            <a:endParaRPr lang="hu-HU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 </a:t>
            </a:r>
            <a:r>
              <a:rPr lang="en-US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fejlesztő</a:t>
            </a:r>
            <a:r>
              <a:rPr lang="en-US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csapat</a:t>
            </a:r>
            <a:r>
              <a:rPr lang="en-US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bemutatása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4" name="Szövegdoboz 3"/>
          <p:cNvSpPr txBox="1"/>
          <p:nvPr/>
        </p:nvSpPr>
        <p:spPr>
          <a:xfrm>
            <a:off x="838200" y="4176074"/>
            <a:ext cx="8361575" cy="3066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hu-HU" dirty="0">
                <a:solidFill>
                  <a:schemeClr val="bg1"/>
                </a:solidFill>
              </a:rPr>
              <a:t>Csapat tagjai</a:t>
            </a:r>
            <a:r>
              <a:rPr lang="en-US" dirty="0">
                <a:solidFill>
                  <a:schemeClr val="bg1"/>
                </a:solidFill>
              </a:rPr>
              <a:t>:</a:t>
            </a:r>
            <a:endParaRPr lang="en-US" dirty="0">
              <a:solidFill>
                <a:schemeClr val="bg1"/>
              </a:solidFill>
            </a:endParaRP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 err="1">
                <a:solidFill>
                  <a:schemeClr val="bg1"/>
                </a:solidFill>
                <a:sym typeface="+mn-ea"/>
              </a:rPr>
              <a:t>S</a:t>
            </a:r>
            <a:r>
              <a:rPr lang="hu-HU" altLang="en-US" dirty="0" err="1">
                <a:solidFill>
                  <a:schemeClr val="bg1"/>
                </a:solidFill>
                <a:sym typeface="+mn-ea"/>
              </a:rPr>
              <a:t>ü</a:t>
            </a:r>
            <a:r>
              <a:rPr lang="en-US" dirty="0" err="1">
                <a:solidFill>
                  <a:schemeClr val="bg1"/>
                </a:solidFill>
                <a:sym typeface="+mn-ea"/>
              </a:rPr>
              <a:t>t</a:t>
            </a:r>
            <a:r>
              <a:rPr lang="hu-HU" altLang="en-US" dirty="0" err="1">
                <a:solidFill>
                  <a:schemeClr val="bg1"/>
                </a:solidFill>
                <a:sym typeface="+mn-ea"/>
              </a:rPr>
              <a:t>ő</a:t>
            </a:r>
            <a:r>
              <a:rPr lang="en-US" dirty="0">
                <a:solidFill>
                  <a:schemeClr val="bg1"/>
                </a:solidFill>
                <a:sym typeface="+mn-ea"/>
              </a:rPr>
              <a:t> Dominik: </a:t>
            </a:r>
            <a:r>
              <a:rPr lang="en-US" dirty="0" err="1">
                <a:solidFill>
                  <a:schemeClr val="bg1"/>
                </a:solidFill>
                <a:sym typeface="+mn-ea"/>
              </a:rPr>
              <a:t>Fejleszti</a:t>
            </a:r>
            <a:r>
              <a:rPr lang="en-US" dirty="0">
                <a:solidFill>
                  <a:schemeClr val="bg1"/>
                </a:solidFill>
                <a:sym typeface="+mn-ea"/>
              </a:rPr>
              <a:t> a </a:t>
            </a:r>
            <a:r>
              <a:rPr lang="en-US" dirty="0" err="1">
                <a:solidFill>
                  <a:schemeClr val="bg1"/>
                </a:solidFill>
                <a:sym typeface="+mn-ea"/>
              </a:rPr>
              <a:t>j</a:t>
            </a:r>
            <a:r>
              <a:rPr lang="hu-HU" altLang="en-US" dirty="0" err="1">
                <a:solidFill>
                  <a:schemeClr val="bg1"/>
                </a:solidFill>
                <a:sym typeface="+mn-ea"/>
              </a:rPr>
              <a:t>á</a:t>
            </a:r>
            <a:r>
              <a:rPr lang="en-US" dirty="0" err="1">
                <a:solidFill>
                  <a:schemeClr val="bg1"/>
                </a:solidFill>
                <a:sym typeface="+mn-ea"/>
              </a:rPr>
              <a:t>t</a:t>
            </a:r>
            <a:r>
              <a:rPr lang="hu-HU" altLang="en-US" dirty="0" err="1">
                <a:solidFill>
                  <a:schemeClr val="bg1"/>
                </a:solidFill>
                <a:sym typeface="+mn-ea"/>
              </a:rPr>
              <a:t>é</a:t>
            </a:r>
            <a:r>
              <a:rPr lang="en-US" dirty="0" err="1">
                <a:solidFill>
                  <a:schemeClr val="bg1"/>
                </a:solidFill>
                <a:sym typeface="+mn-ea"/>
              </a:rPr>
              <a:t>kot</a:t>
            </a:r>
            <a:r>
              <a:rPr lang="en-US" dirty="0">
                <a:solidFill>
                  <a:schemeClr val="bg1"/>
                </a:solidFill>
                <a:sym typeface="+mn-ea"/>
              </a:rPr>
              <a:t> </a:t>
            </a:r>
            <a:r>
              <a:rPr lang="hu-HU" altLang="en-US" dirty="0">
                <a:solidFill>
                  <a:schemeClr val="bg1"/>
                </a:solidFill>
                <a:sym typeface="+mn-ea"/>
              </a:rPr>
              <a:t>é</a:t>
            </a:r>
            <a:r>
              <a:rPr lang="en-US" dirty="0">
                <a:solidFill>
                  <a:schemeClr val="bg1"/>
                </a:solidFill>
                <a:sym typeface="+mn-ea"/>
              </a:rPr>
              <a:t>s </a:t>
            </a:r>
            <a:r>
              <a:rPr lang="en-US" dirty="0" err="1">
                <a:solidFill>
                  <a:schemeClr val="bg1"/>
                </a:solidFill>
                <a:sym typeface="+mn-ea"/>
              </a:rPr>
              <a:t>kital</a:t>
            </a:r>
            <a:r>
              <a:rPr lang="hu-HU" altLang="en-US" dirty="0" err="1">
                <a:solidFill>
                  <a:schemeClr val="bg1"/>
                </a:solidFill>
                <a:sym typeface="+mn-ea"/>
              </a:rPr>
              <a:t>á</a:t>
            </a:r>
            <a:r>
              <a:rPr lang="en-US" dirty="0" err="1">
                <a:solidFill>
                  <a:schemeClr val="bg1"/>
                </a:solidFill>
                <a:sym typeface="+mn-ea"/>
              </a:rPr>
              <a:t>lta</a:t>
            </a:r>
            <a:r>
              <a:rPr lang="en-US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bg1"/>
                </a:solidFill>
                <a:sym typeface="+mn-ea"/>
              </a:rPr>
              <a:t>az</a:t>
            </a:r>
            <a:r>
              <a:rPr lang="en-US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dirty="0" err="1">
                <a:solidFill>
                  <a:schemeClr val="bg1"/>
                </a:solidFill>
                <a:sym typeface="+mn-ea"/>
              </a:rPr>
              <a:t>alap</a:t>
            </a:r>
            <a:r>
              <a:rPr lang="hu-HU" altLang="en-US" dirty="0" err="1">
                <a:solidFill>
                  <a:schemeClr val="bg1"/>
                </a:solidFill>
                <a:sym typeface="+mn-ea"/>
              </a:rPr>
              <a:t>ö</a:t>
            </a:r>
            <a:r>
              <a:rPr lang="en-US" dirty="0" err="1">
                <a:solidFill>
                  <a:schemeClr val="bg1"/>
                </a:solidFill>
                <a:sym typeface="+mn-ea"/>
              </a:rPr>
              <a:t>tletet</a:t>
            </a:r>
            <a:r>
              <a:rPr lang="en-US" dirty="0">
                <a:solidFill>
                  <a:schemeClr val="bg1"/>
                </a:solidFill>
                <a:sym typeface="+mn-ea"/>
              </a:rPr>
              <a:t> </a:t>
            </a:r>
            <a:r>
              <a:rPr lang="hu-HU" altLang="en-US" dirty="0">
                <a:solidFill>
                  <a:schemeClr val="bg1"/>
                </a:solidFill>
                <a:sym typeface="+mn-ea"/>
              </a:rPr>
              <a:t>é</a:t>
            </a:r>
            <a:r>
              <a:rPr lang="en-US" dirty="0">
                <a:solidFill>
                  <a:schemeClr val="bg1"/>
                </a:solidFill>
                <a:sym typeface="+mn-ea"/>
              </a:rPr>
              <a:t>s a </a:t>
            </a:r>
            <a:r>
              <a:rPr lang="en-US" dirty="0" err="1">
                <a:solidFill>
                  <a:schemeClr val="bg1"/>
                </a:solidFill>
                <a:sym typeface="+mn-ea"/>
              </a:rPr>
              <a:t>karaktereket</a:t>
            </a:r>
            <a:endParaRPr lang="hu-HU" dirty="0">
              <a:solidFill>
                <a:schemeClr val="bg1"/>
              </a:solidFill>
            </a:endParaRP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1"/>
                </a:solidFill>
              </a:rPr>
              <a:t>Kiss M</a:t>
            </a:r>
            <a:r>
              <a:rPr lang="hu-HU" altLang="en-US" dirty="0">
                <a:solidFill>
                  <a:schemeClr val="bg1"/>
                </a:solidFill>
              </a:rPr>
              <a:t>á</a:t>
            </a:r>
            <a:r>
              <a:rPr lang="en-US" dirty="0">
                <a:solidFill>
                  <a:schemeClr val="bg1"/>
                </a:solidFill>
              </a:rPr>
              <a:t>te: A </a:t>
            </a:r>
            <a:r>
              <a:rPr lang="en-US" dirty="0" err="1">
                <a:solidFill>
                  <a:schemeClr val="bg1"/>
                </a:solidFill>
              </a:rPr>
              <a:t>dokument</a:t>
            </a:r>
            <a:r>
              <a:rPr lang="hu-HU" altLang="en-US" dirty="0" err="1">
                <a:solidFill>
                  <a:schemeClr val="bg1"/>
                </a:solidFill>
              </a:rPr>
              <a:t>á</a:t>
            </a:r>
            <a:r>
              <a:rPr lang="en-US" dirty="0" err="1">
                <a:solidFill>
                  <a:schemeClr val="bg1"/>
                </a:solidFill>
              </a:rPr>
              <a:t>ci</a:t>
            </a:r>
            <a:r>
              <a:rPr lang="hu-HU" altLang="en-US" dirty="0" err="1">
                <a:solidFill>
                  <a:schemeClr val="bg1"/>
                </a:solidFill>
              </a:rPr>
              <a:t>óé</a:t>
            </a:r>
            <a:r>
              <a:rPr lang="en-US" dirty="0" err="1">
                <a:solidFill>
                  <a:schemeClr val="bg1"/>
                </a:solidFill>
              </a:rPr>
              <a:t>rt</a:t>
            </a:r>
            <a:r>
              <a:rPr lang="hu-HU" altLang="en-US" dirty="0" err="1">
                <a:solidFill>
                  <a:schemeClr val="bg1"/>
                </a:solidFill>
              </a:rPr>
              <a:t>,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hu-HU" altLang="en-US" dirty="0">
                <a:solidFill>
                  <a:schemeClr val="bg1"/>
                </a:solidFill>
              </a:rPr>
              <a:t>az admin felületért és 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karakterek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anim</a:t>
            </a:r>
            <a:r>
              <a:rPr lang="hu-HU" altLang="en-US" dirty="0" err="1">
                <a:solidFill>
                  <a:schemeClr val="bg1"/>
                </a:solidFill>
              </a:rPr>
              <a:t>á</a:t>
            </a:r>
            <a:r>
              <a:rPr lang="en-US" dirty="0" err="1">
                <a:solidFill>
                  <a:schemeClr val="bg1"/>
                </a:solidFill>
              </a:rPr>
              <a:t>l</a:t>
            </a:r>
            <a:r>
              <a:rPr lang="hu-HU" altLang="en-US" dirty="0" err="1">
                <a:solidFill>
                  <a:schemeClr val="bg1"/>
                </a:solidFill>
              </a:rPr>
              <a:t>á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hu-HU" altLang="en-US" dirty="0" err="1">
                <a:solidFill>
                  <a:schemeClr val="bg1"/>
                </a:solidFill>
              </a:rPr>
              <a:t>áé</a:t>
            </a:r>
            <a:r>
              <a:rPr lang="en-US" dirty="0" err="1">
                <a:solidFill>
                  <a:schemeClr val="bg1"/>
                </a:solidFill>
              </a:rPr>
              <a:t>rt</a:t>
            </a:r>
            <a:endParaRPr lang="en-US" dirty="0">
              <a:solidFill>
                <a:schemeClr val="bg1"/>
              </a:solidFill>
            </a:endParaRPr>
          </a:p>
          <a:p>
            <a:pPr>
              <a:spcBef>
                <a:spcPts val="2500"/>
              </a:spcBef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sym typeface="+mn-ea"/>
              </a:rPr>
              <a:t>Tam</a:t>
            </a:r>
            <a:r>
              <a:rPr lang="hu-HU" altLang="en-US" dirty="0">
                <a:solidFill>
                  <a:schemeClr val="bg1"/>
                </a:solidFill>
                <a:sym typeface="+mn-ea"/>
              </a:rPr>
              <a:t>á</a:t>
            </a:r>
            <a:r>
              <a:rPr lang="en-US" dirty="0">
                <a:solidFill>
                  <a:schemeClr val="bg1"/>
                </a:solidFill>
                <a:sym typeface="+mn-ea"/>
              </a:rPr>
              <a:t>s Bence: A Frontend </a:t>
            </a:r>
            <a:r>
              <a:rPr lang="hu-HU" altLang="en-US" dirty="0">
                <a:solidFill>
                  <a:schemeClr val="bg1"/>
                </a:solidFill>
                <a:sym typeface="+mn-ea"/>
              </a:rPr>
              <a:t>é</a:t>
            </a:r>
            <a:r>
              <a:rPr lang="en-US" dirty="0">
                <a:solidFill>
                  <a:schemeClr val="bg1"/>
                </a:solidFill>
                <a:sym typeface="+mn-ea"/>
              </a:rPr>
              <a:t>s Backend </a:t>
            </a:r>
            <a:r>
              <a:rPr lang="en-US" dirty="0" err="1">
                <a:solidFill>
                  <a:schemeClr val="bg1"/>
                </a:solidFill>
                <a:sym typeface="+mn-ea"/>
              </a:rPr>
              <a:t>fejleszt</a:t>
            </a:r>
            <a:r>
              <a:rPr lang="hu-HU" altLang="en-US" dirty="0" err="1">
                <a:solidFill>
                  <a:schemeClr val="bg1"/>
                </a:solidFill>
                <a:sym typeface="+mn-ea"/>
              </a:rPr>
              <a:t>ő</a:t>
            </a:r>
            <a:r>
              <a:rPr lang="en-US" dirty="0" err="1">
                <a:solidFill>
                  <a:schemeClr val="bg1"/>
                </a:solidFill>
                <a:sym typeface="+mn-ea"/>
              </a:rPr>
              <a:t>je</a:t>
            </a:r>
            <a:r>
              <a:rPr lang="en-US" dirty="0">
                <a:solidFill>
                  <a:schemeClr val="bg1"/>
                </a:solidFill>
                <a:sym typeface="+mn-ea"/>
              </a:rPr>
              <a:t> </a:t>
            </a:r>
            <a:r>
              <a:rPr lang="hu-HU" altLang="en-US" dirty="0">
                <a:solidFill>
                  <a:schemeClr val="bg1"/>
                </a:solidFill>
                <a:sym typeface="+mn-ea"/>
              </a:rPr>
              <a:t>é</a:t>
            </a:r>
            <a:r>
              <a:rPr lang="en-US" dirty="0">
                <a:solidFill>
                  <a:schemeClr val="bg1"/>
                </a:solidFill>
                <a:sym typeface="+mn-ea"/>
              </a:rPr>
              <a:t>s </a:t>
            </a:r>
            <a:r>
              <a:rPr lang="en-US" dirty="0" err="1">
                <a:solidFill>
                  <a:schemeClr val="bg1"/>
                </a:solidFill>
                <a:sym typeface="+mn-ea"/>
              </a:rPr>
              <a:t>karbantart</a:t>
            </a:r>
            <a:r>
              <a:rPr lang="hu-HU" altLang="en-US" dirty="0" err="1">
                <a:solidFill>
                  <a:schemeClr val="bg1"/>
                </a:solidFill>
                <a:sym typeface="+mn-ea"/>
              </a:rPr>
              <a:t>ó</a:t>
            </a:r>
            <a:r>
              <a:rPr lang="en-US" dirty="0" err="1">
                <a:solidFill>
                  <a:schemeClr val="bg1"/>
                </a:solidFill>
                <a:sym typeface="+mn-ea"/>
              </a:rPr>
              <a:t>ja</a:t>
            </a:r>
            <a:endParaRPr lang="hu-HU" dirty="0">
              <a:solidFill>
                <a:schemeClr val="bg1"/>
              </a:solidFill>
            </a:endParaRP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hu-HU" sz="1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 descr="A képen szöveg, képernyőkép, multimédia, szoftver látható&#10;&#10;Automatikusan generált leírás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4003122" cy="1966330"/>
          </a:xfrm>
          <a:prstGeom prst="rect">
            <a:avLst/>
          </a:prstGeom>
        </p:spPr>
      </p:pic>
      <p:pic>
        <p:nvPicPr>
          <p:cNvPr id="8" name="Kép 7" descr="A képen képernyőkép, szöveg, Videojáték-szoftver, Multimédiás szoftver látható&#10;&#10;Automatikusan generált leírá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2" y="2358858"/>
            <a:ext cx="4003122" cy="2140283"/>
          </a:xfrm>
          <a:prstGeom prst="rect">
            <a:avLst/>
          </a:prstGeom>
        </p:spPr>
      </p:pic>
      <p:pic>
        <p:nvPicPr>
          <p:cNvPr id="10" name="Kép 9" descr="A képen szöveg, képernyőkép, Multimédiás szoftver, Számítógépes játék látható&#10;&#10;Automatikusan generált leírá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30218"/>
            <a:ext cx="4003122" cy="2027782"/>
          </a:xfrm>
          <a:prstGeom prst="rect">
            <a:avLst/>
          </a:prstGeom>
        </p:spPr>
      </p:pic>
      <p:sp>
        <p:nvSpPr>
          <p:cNvPr id="11" name="Szövegdoboz 10"/>
          <p:cNvSpPr txBox="1"/>
          <p:nvPr/>
        </p:nvSpPr>
        <p:spPr>
          <a:xfrm>
            <a:off x="4534291" y="521500"/>
            <a:ext cx="56655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altLang="en-US" dirty="0" err="1">
                <a:solidFill>
                  <a:schemeClr val="bg1"/>
                </a:solidFill>
              </a:rPr>
              <a:t>Fő</a:t>
            </a:r>
            <a:r>
              <a:rPr lang="en-US" dirty="0" err="1">
                <a:solidFill>
                  <a:schemeClr val="bg1"/>
                </a:solidFill>
              </a:rPr>
              <a:t>oldal</a:t>
            </a:r>
            <a:r>
              <a:rPr lang="en-US" dirty="0">
                <a:solidFill>
                  <a:schemeClr val="bg1"/>
                </a:solidFill>
              </a:rPr>
              <a:t>: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dirty="0" err="1">
                <a:solidFill>
                  <a:schemeClr val="bg1"/>
                </a:solidFill>
              </a:rPr>
              <a:t>f</a:t>
            </a:r>
            <a:r>
              <a:rPr lang="hu-HU" altLang="en-US" dirty="0" err="1">
                <a:solidFill>
                  <a:schemeClr val="bg1"/>
                </a:solidFill>
              </a:rPr>
              <a:t>ő</a:t>
            </a:r>
            <a:r>
              <a:rPr lang="en-US" dirty="0" err="1">
                <a:solidFill>
                  <a:schemeClr val="bg1"/>
                </a:solidFill>
              </a:rPr>
              <a:t>oldalon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els</a:t>
            </a:r>
            <a:r>
              <a:rPr lang="hu-HU" altLang="en-US" dirty="0" err="1">
                <a:solidFill>
                  <a:schemeClr val="bg1"/>
                </a:solidFill>
              </a:rPr>
              <a:t>ő</a:t>
            </a:r>
            <a:r>
              <a:rPr lang="en-US" dirty="0" err="1">
                <a:solidFill>
                  <a:schemeClr val="bg1"/>
                </a:solidFill>
              </a:rPr>
              <a:t>sorban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egy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</a:t>
            </a:r>
            <a:r>
              <a:rPr lang="hu-HU" altLang="en-US" dirty="0" err="1">
                <a:solidFill>
                  <a:schemeClr val="bg1"/>
                </a:solidFill>
              </a:rPr>
              <a:t>ö</a:t>
            </a:r>
            <a:r>
              <a:rPr lang="en-US" dirty="0" err="1">
                <a:solidFill>
                  <a:schemeClr val="bg1"/>
                </a:solidFill>
              </a:rPr>
              <a:t>vid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</a:t>
            </a:r>
            <a:r>
              <a:rPr lang="hu-HU" altLang="en-US" dirty="0" err="1">
                <a:solidFill>
                  <a:schemeClr val="bg1"/>
                </a:solidFill>
              </a:rPr>
              <a:t>ő</a:t>
            </a:r>
            <a:r>
              <a:rPr lang="en-US" dirty="0" err="1">
                <a:solidFill>
                  <a:schemeClr val="bg1"/>
                </a:solidFill>
              </a:rPr>
              <a:t>zetes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fogadja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felhaszn</a:t>
            </a:r>
            <a:r>
              <a:rPr lang="hu-HU" altLang="en-US" dirty="0" err="1">
                <a:solidFill>
                  <a:schemeClr val="bg1"/>
                </a:solidFill>
              </a:rPr>
              <a:t>á</a:t>
            </a:r>
            <a:r>
              <a:rPr lang="en-US" dirty="0" err="1">
                <a:solidFill>
                  <a:schemeClr val="bg1"/>
                </a:solidFill>
              </a:rPr>
              <a:t>l</a:t>
            </a:r>
            <a:r>
              <a:rPr lang="hu-HU" altLang="en-US" dirty="0" err="1">
                <a:solidFill>
                  <a:schemeClr val="bg1"/>
                </a:solidFill>
              </a:rPr>
              <a:t>ó</a:t>
            </a:r>
            <a:r>
              <a:rPr lang="en-US" dirty="0" err="1">
                <a:solidFill>
                  <a:schemeClr val="bg1"/>
                </a:solidFill>
              </a:rPr>
              <a:t>kat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amely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j</a:t>
            </a:r>
            <a:r>
              <a:rPr lang="hu-HU" altLang="en-US" dirty="0" err="1">
                <a:solidFill>
                  <a:schemeClr val="bg1"/>
                </a:solidFill>
              </a:rPr>
              <a:t>á</a:t>
            </a:r>
            <a:r>
              <a:rPr lang="en-US" dirty="0" err="1">
                <a:solidFill>
                  <a:schemeClr val="bg1"/>
                </a:solidFill>
              </a:rPr>
              <a:t>t</a:t>
            </a:r>
            <a:r>
              <a:rPr lang="hu-HU" altLang="en-US" dirty="0" err="1">
                <a:solidFill>
                  <a:schemeClr val="bg1"/>
                </a:solidFill>
              </a:rPr>
              <a:t>é</a:t>
            </a:r>
            <a:r>
              <a:rPr lang="en-US" dirty="0" err="1">
                <a:solidFill>
                  <a:schemeClr val="bg1"/>
                </a:solidFill>
              </a:rPr>
              <a:t>kr</a:t>
            </a:r>
            <a:r>
              <a:rPr lang="hu-HU" altLang="en-US" dirty="0" err="1">
                <a:solidFill>
                  <a:schemeClr val="bg1"/>
                </a:solidFill>
              </a:rPr>
              <a:t>ó</a:t>
            </a:r>
            <a:r>
              <a:rPr lang="en-US" dirty="0" err="1">
                <a:solidFill>
                  <a:schemeClr val="bg1"/>
                </a:solidFill>
              </a:rPr>
              <a:t>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sz</a:t>
            </a:r>
            <a:r>
              <a:rPr lang="hu-HU" altLang="en-US" dirty="0" err="1">
                <a:solidFill>
                  <a:schemeClr val="bg1"/>
                </a:solidFill>
              </a:rPr>
              <a:t>ó</a:t>
            </a:r>
            <a:r>
              <a:rPr lang="en-US" dirty="0" err="1">
                <a:solidFill>
                  <a:schemeClr val="bg1"/>
                </a:solidFill>
              </a:rPr>
              <a:t>l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12" name="Szövegdoboz 11"/>
          <p:cNvSpPr txBox="1"/>
          <p:nvPr/>
        </p:nvSpPr>
        <p:spPr>
          <a:xfrm>
            <a:off x="4647415" y="2967334"/>
            <a:ext cx="6004874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Bejelentkez</a:t>
            </a:r>
            <a:r>
              <a:rPr lang="hu-HU" altLang="en-US" dirty="0" err="1">
                <a:solidFill>
                  <a:schemeClr val="bg1"/>
                </a:solidFill>
              </a:rPr>
              <a:t>é</a:t>
            </a:r>
            <a:r>
              <a:rPr lang="en-US" dirty="0" err="1">
                <a:solidFill>
                  <a:schemeClr val="bg1"/>
                </a:solidFill>
              </a:rPr>
              <a:t>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hu-HU" altLang="en-US" dirty="0">
                <a:solidFill>
                  <a:schemeClr val="bg1"/>
                </a:solidFill>
              </a:rPr>
              <a:t>é</a:t>
            </a:r>
            <a:r>
              <a:rPr lang="en-US" dirty="0">
                <a:solidFill>
                  <a:schemeClr val="bg1"/>
                </a:solidFill>
              </a:rPr>
              <a:t>s </a:t>
            </a:r>
            <a:r>
              <a:rPr lang="en-US" dirty="0" err="1">
                <a:solidFill>
                  <a:schemeClr val="bg1"/>
                </a:solidFill>
              </a:rPr>
              <a:t>regisztr</a:t>
            </a:r>
            <a:r>
              <a:rPr lang="hu-HU" altLang="en-US" dirty="0" err="1">
                <a:solidFill>
                  <a:schemeClr val="bg1"/>
                </a:solidFill>
              </a:rPr>
              <a:t>á</a:t>
            </a:r>
            <a:r>
              <a:rPr lang="en-US" dirty="0" err="1">
                <a:solidFill>
                  <a:schemeClr val="bg1"/>
                </a:solidFill>
              </a:rPr>
              <a:t>ci</a:t>
            </a:r>
            <a:r>
              <a:rPr lang="hu-HU" altLang="en-US" dirty="0" err="1">
                <a:solidFill>
                  <a:schemeClr val="bg1"/>
                </a:solidFill>
              </a:rPr>
              <a:t>ó</a:t>
            </a:r>
            <a:r>
              <a:rPr lang="en-US" dirty="0">
                <a:solidFill>
                  <a:schemeClr val="bg1"/>
                </a:solidFill>
              </a:rPr>
              <a:t>: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hu-HU" dirty="0">
                <a:solidFill>
                  <a:schemeClr val="bg1"/>
                </a:solidFill>
              </a:rPr>
              <a:t>Biztonságos bejelentkezési és regisztrációs folyamat segíti a felhasználók hozzáférését a portálhoz.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13" name="Szövegdoboz 12"/>
          <p:cNvSpPr txBox="1"/>
          <p:nvPr/>
        </p:nvSpPr>
        <p:spPr>
          <a:xfrm>
            <a:off x="4647415" y="5382444"/>
            <a:ext cx="6249971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Informaciok</a:t>
            </a:r>
            <a:r>
              <a:rPr lang="en-US" dirty="0">
                <a:solidFill>
                  <a:schemeClr val="bg1"/>
                </a:solidFill>
              </a:rPr>
              <a:t>: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hu-HU" altLang="en-US" dirty="0">
                <a:solidFill>
                  <a:schemeClr val="bg1"/>
                </a:solidFill>
              </a:rPr>
              <a:t>Az oldalon található alap információk: játék törénete, mozgás, ellenségek és karakterek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hu-H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zövegdoboz 4"/>
          <p:cNvSpPr txBox="1"/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React 18 </a:t>
            </a:r>
            <a:r>
              <a:rPr lang="en-US" sz="2600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és</a:t>
            </a:r>
            <a:r>
              <a:rPr lang="en-US" sz="26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ideiglenes</a:t>
            </a:r>
            <a:r>
              <a:rPr lang="en-US" sz="2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React Router DOM </a:t>
            </a:r>
            <a:r>
              <a:rPr lang="en-US" sz="2600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használata</a:t>
            </a:r>
            <a:endParaRPr lang="en-US" sz="2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-228600" algn="l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bg1"/>
                </a:solidFill>
              </a:rPr>
              <a:t>React 18 </a:t>
            </a:r>
            <a:r>
              <a:rPr lang="en-US" sz="1700" b="1" dirty="0" err="1">
                <a:solidFill>
                  <a:schemeClr val="bg1"/>
                </a:solidFill>
              </a:rPr>
              <a:t>alapok</a:t>
            </a:r>
            <a:endParaRPr lang="en-US" sz="1700" b="1" dirty="0">
              <a:solidFill>
                <a:schemeClr val="bg1"/>
              </a:solidFill>
            </a:endParaRPr>
          </a:p>
          <a:p>
            <a:pPr marL="0" lvl="1" indent="-22860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 </a:t>
            </a:r>
            <a:r>
              <a:rPr lang="en-US" sz="1700" dirty="0" err="1">
                <a:solidFill>
                  <a:schemeClr val="bg1"/>
                </a:solidFill>
              </a:rPr>
              <a:t>portál</a:t>
            </a:r>
            <a:r>
              <a:rPr lang="en-US" sz="1700" dirty="0">
                <a:solidFill>
                  <a:schemeClr val="bg1"/>
                </a:solidFill>
              </a:rPr>
              <a:t> a React 18 </a:t>
            </a:r>
            <a:r>
              <a:rPr lang="en-US" sz="1700" dirty="0" err="1">
                <a:solidFill>
                  <a:schemeClr val="bg1"/>
                </a:solidFill>
              </a:rPr>
              <a:t>legújabb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verziójára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épül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amely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új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funkciókat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és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optimalizációkat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kínál</a:t>
            </a:r>
            <a:r>
              <a:rPr lang="en-US" sz="1700" dirty="0">
                <a:solidFill>
                  <a:schemeClr val="bg1"/>
                </a:solidFill>
              </a:rPr>
              <a:t> a </a:t>
            </a:r>
            <a:r>
              <a:rPr lang="en-US" sz="1700" dirty="0" err="1">
                <a:solidFill>
                  <a:schemeClr val="bg1"/>
                </a:solidFill>
              </a:rPr>
              <a:t>fejlesztéshez</a:t>
            </a:r>
            <a:r>
              <a:rPr lang="en-US" sz="1700" dirty="0">
                <a:solidFill>
                  <a:schemeClr val="bg1"/>
                </a:solidFill>
              </a:rPr>
              <a:t>.</a:t>
            </a:r>
            <a:endParaRPr lang="en-US" sz="1700" dirty="0">
              <a:solidFill>
                <a:schemeClr val="bg1"/>
              </a:solidFill>
            </a:endParaRPr>
          </a:p>
          <a:p>
            <a:pPr marL="0" indent="-228600" algn="l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solidFill>
                  <a:schemeClr val="bg1"/>
                </a:solidFill>
              </a:rPr>
              <a:t>React Router DOM </a:t>
            </a:r>
            <a:r>
              <a:rPr lang="en-US" sz="1700" b="1" dirty="0" err="1">
                <a:solidFill>
                  <a:schemeClr val="bg1"/>
                </a:solidFill>
              </a:rPr>
              <a:t>szerepe</a:t>
            </a:r>
            <a:endParaRPr lang="en-US" sz="1700" b="1" dirty="0">
              <a:solidFill>
                <a:schemeClr val="bg1"/>
              </a:solidFill>
            </a:endParaRPr>
          </a:p>
          <a:p>
            <a:pPr marL="0" lvl="1" indent="-228600" algn="l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A React Router DOM </a:t>
            </a:r>
            <a:r>
              <a:rPr lang="en-US" sz="1700" dirty="0" err="1">
                <a:solidFill>
                  <a:schemeClr val="bg1"/>
                </a:solidFill>
              </a:rPr>
              <a:t>biztosítja</a:t>
            </a:r>
            <a:r>
              <a:rPr lang="en-US" sz="1700" dirty="0">
                <a:solidFill>
                  <a:schemeClr val="bg1"/>
                </a:solidFill>
              </a:rPr>
              <a:t> a </a:t>
            </a:r>
            <a:r>
              <a:rPr lang="en-US" sz="1700" dirty="0" err="1">
                <a:solidFill>
                  <a:schemeClr val="bg1"/>
                </a:solidFill>
              </a:rPr>
              <a:t>gördülékeny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és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dinamikus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navigációt</a:t>
            </a:r>
            <a:r>
              <a:rPr lang="en-US" sz="1700" dirty="0">
                <a:solidFill>
                  <a:schemeClr val="bg1"/>
                </a:solidFill>
              </a:rPr>
              <a:t> a </a:t>
            </a:r>
            <a:r>
              <a:rPr lang="en-US" sz="1700" dirty="0" err="1">
                <a:solidFill>
                  <a:schemeClr val="bg1"/>
                </a:solidFill>
              </a:rPr>
              <a:t>komponensek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között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az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alkalmazásban</a:t>
            </a:r>
            <a:r>
              <a:rPr lang="en-US" sz="1700" dirty="0">
                <a:solidFill>
                  <a:schemeClr val="bg1"/>
                </a:solidFill>
              </a:rPr>
              <a:t>.</a:t>
            </a:r>
            <a:endParaRPr lang="en-US" sz="1700" dirty="0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2" name="Picture 1" descr="kodola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6150" y="849630"/>
            <a:ext cx="6830060" cy="42659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6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Vite </a:t>
            </a:r>
            <a:r>
              <a:rPr lang="en-US" sz="4600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fejlesztőkörnyezet</a:t>
            </a:r>
            <a:r>
              <a:rPr lang="en-US" sz="46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600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és</a:t>
            </a:r>
            <a:r>
              <a:rPr lang="en-US" sz="46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CSS3 </a:t>
            </a:r>
            <a:r>
              <a:rPr lang="en-US" sz="4600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technikák</a:t>
            </a:r>
            <a:endParaRPr lang="hu-HU" sz="4600" dirty="0">
              <a:solidFill>
                <a:schemeClr val="bg1"/>
              </a:solidFill>
            </a:endParaRPr>
          </a:p>
        </p:txBody>
      </p:sp>
      <p:sp>
        <p:nvSpPr>
          <p:cNvPr id="10" name="sketch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artalom helye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hu-HU" sz="1700" b="1" dirty="0" err="1">
                <a:solidFill>
                  <a:schemeClr val="bg1"/>
                </a:solidFill>
              </a:rPr>
              <a:t>Vite</a:t>
            </a:r>
            <a:r>
              <a:rPr lang="hu-HU" sz="1700" b="1" dirty="0">
                <a:solidFill>
                  <a:schemeClr val="bg1"/>
                </a:solidFill>
              </a:rPr>
              <a:t> fejlesztőkörnyezet</a:t>
            </a:r>
            <a:endParaRPr lang="hu-HU" sz="1700" b="1" dirty="0">
              <a:solidFill>
                <a:schemeClr val="bg1"/>
              </a:solidFill>
            </a:endParaRP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hu-HU" sz="1700" dirty="0">
                <a:solidFill>
                  <a:schemeClr val="bg1"/>
                </a:solidFill>
              </a:rPr>
              <a:t>A </a:t>
            </a:r>
            <a:r>
              <a:rPr lang="hu-HU" sz="1700" dirty="0" err="1">
                <a:solidFill>
                  <a:schemeClr val="bg1"/>
                </a:solidFill>
              </a:rPr>
              <a:t>Vite</a:t>
            </a:r>
            <a:r>
              <a:rPr lang="hu-HU" sz="1700" dirty="0">
                <a:solidFill>
                  <a:schemeClr val="bg1"/>
                </a:solidFill>
              </a:rPr>
              <a:t> gyors és hatékony fejlesztési eszköz, amely megkönnyíti a modern webalkalmazások létrehozását.</a:t>
            </a:r>
            <a:endParaRPr lang="hu-HU" sz="1700" dirty="0">
              <a:solidFill>
                <a:schemeClr val="bg1"/>
              </a:solidFill>
            </a:endParaRP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hu-HU" sz="1700" b="1" dirty="0">
                <a:solidFill>
                  <a:schemeClr val="bg1"/>
                </a:solidFill>
              </a:rPr>
              <a:t>CSS </a:t>
            </a:r>
            <a:r>
              <a:rPr lang="hu-HU" sz="1700" b="1" dirty="0" err="1">
                <a:solidFill>
                  <a:schemeClr val="bg1"/>
                </a:solidFill>
              </a:rPr>
              <a:t>Grid</a:t>
            </a:r>
            <a:r>
              <a:rPr lang="hu-HU" sz="1700" b="1" dirty="0">
                <a:solidFill>
                  <a:schemeClr val="bg1"/>
                </a:solidFill>
              </a:rPr>
              <a:t> használata</a:t>
            </a:r>
            <a:endParaRPr lang="hu-HU" sz="1700" b="1" dirty="0">
              <a:solidFill>
                <a:schemeClr val="bg1"/>
              </a:solidFill>
            </a:endParaRP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hu-HU" sz="1700" dirty="0">
                <a:solidFill>
                  <a:schemeClr val="bg1"/>
                </a:solidFill>
              </a:rPr>
              <a:t>A CSS </a:t>
            </a:r>
            <a:r>
              <a:rPr lang="hu-HU" sz="1700" dirty="0" err="1">
                <a:solidFill>
                  <a:schemeClr val="bg1"/>
                </a:solidFill>
              </a:rPr>
              <a:t>Grid</a:t>
            </a:r>
            <a:r>
              <a:rPr lang="hu-HU" sz="1700" dirty="0">
                <a:solidFill>
                  <a:schemeClr val="bg1"/>
                </a:solidFill>
              </a:rPr>
              <a:t> segítségével rugalmas és komplex elrendezéseket készíthetünk könnyedén és hatékonyan.</a:t>
            </a:r>
            <a:endParaRPr lang="hu-HU" sz="1700" dirty="0">
              <a:solidFill>
                <a:schemeClr val="bg1"/>
              </a:solidFill>
            </a:endParaRP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hu-HU" sz="1700" b="1" dirty="0" err="1">
                <a:solidFill>
                  <a:schemeClr val="bg1"/>
                </a:solidFill>
              </a:rPr>
              <a:t>Flexbox</a:t>
            </a:r>
            <a:r>
              <a:rPr lang="hu-HU" sz="1700" b="1" dirty="0">
                <a:solidFill>
                  <a:schemeClr val="bg1"/>
                </a:solidFill>
              </a:rPr>
              <a:t> technika alkalmazása</a:t>
            </a:r>
            <a:endParaRPr lang="hu-HU" sz="1700" b="1" dirty="0">
              <a:solidFill>
                <a:schemeClr val="bg1"/>
              </a:solidFill>
            </a:endParaRP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hu-HU" sz="1700" dirty="0">
                <a:solidFill>
                  <a:schemeClr val="bg1"/>
                </a:solidFill>
              </a:rPr>
              <a:t>A </a:t>
            </a:r>
            <a:r>
              <a:rPr lang="hu-HU" sz="1700" dirty="0" err="1">
                <a:solidFill>
                  <a:schemeClr val="bg1"/>
                </a:solidFill>
              </a:rPr>
              <a:t>Flexbox</a:t>
            </a:r>
            <a:r>
              <a:rPr lang="hu-HU" sz="1700" dirty="0">
                <a:solidFill>
                  <a:schemeClr val="bg1"/>
                </a:solidFill>
              </a:rPr>
              <a:t> dinamikus tartalom igazításra és elrendezésre alkalmas, ami reszponzív dizájnt eredményez.</a:t>
            </a:r>
            <a:endParaRPr lang="hu-HU" sz="1700" dirty="0">
              <a:solidFill>
                <a:schemeClr val="bg1"/>
              </a:solidFill>
            </a:endParaRPr>
          </a:p>
          <a:p>
            <a:pPr marL="0" indent="0"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hu-HU" sz="1700" b="1" dirty="0">
                <a:solidFill>
                  <a:schemeClr val="bg1"/>
                </a:solidFill>
              </a:rPr>
              <a:t>CSS animációk</a:t>
            </a:r>
            <a:endParaRPr lang="hu-HU" sz="1700" b="1" dirty="0">
              <a:solidFill>
                <a:schemeClr val="bg1"/>
              </a:solidFill>
            </a:endParaRPr>
          </a:p>
          <a:p>
            <a:pPr marL="0" lvl="1" indent="0"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hu-HU" sz="1700" dirty="0">
                <a:solidFill>
                  <a:schemeClr val="bg1"/>
                </a:solidFill>
              </a:rPr>
              <a:t>CSS animációk segítségével vizuálisan vonzó és interaktív felhasználói élményeket hozhatunk létre.</a:t>
            </a:r>
            <a:endParaRPr lang="hu-HU" sz="1700" dirty="0">
              <a:solidFill>
                <a:schemeClr val="bg1"/>
              </a:solidFill>
            </a:endParaRPr>
          </a:p>
          <a:p>
            <a:endParaRPr lang="hu-HU" sz="17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-1" y="0"/>
            <a:ext cx="5238751" cy="847725"/>
          </a:xfrm>
        </p:spPr>
        <p:txBody>
          <a:bodyPr>
            <a:normAutofit/>
          </a:bodyPr>
          <a:lstStyle/>
          <a:p>
            <a:r>
              <a:rPr lang="hu-HU" sz="2400" dirty="0">
                <a:solidFill>
                  <a:schemeClr val="bg1"/>
                </a:solidFill>
              </a:rPr>
              <a:t>A WPF (XAML) technológia biztosítja játékunk stabil és rugalmas alapjait</a:t>
            </a:r>
            <a:r>
              <a:rPr lang="en-US" sz="2400" dirty="0">
                <a:solidFill>
                  <a:schemeClr val="bg1"/>
                </a:solidFill>
              </a:rPr>
              <a:t>:</a:t>
            </a:r>
            <a:endParaRPr lang="hu-HU" sz="2400" dirty="0">
              <a:solidFill>
                <a:schemeClr val="bg1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07645" y="923925"/>
            <a:ext cx="4831080" cy="5010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hu-HU" altLang="hu-H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Moduláris felépítés (MVVM):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látvány és a logika különválik, így a kód tiszta és rendszerezett (mint a képen látható mappa-struktúra).</a:t>
            </a: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hu-HU" altLang="hu-H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Gyors bővíthetőség: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Az adatkötések (Data </a:t>
            </a:r>
            <a:r>
              <a:rPr kumimoji="0" lang="hu-HU" altLang="hu-HU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Binding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 révén az új funkciók és karakterek integrálása villámgyors.</a:t>
            </a: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hu-HU" altLang="hu-HU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Könnyű karbantartás:</a:t>
            </a:r>
            <a:r>
              <a:rPr kumimoji="0" lang="hu-HU" altLang="hu-HU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 sablon alapú fejlesztés miatt a hibajavítás és a vizuális frissítés zökkenőmentes.</a:t>
            </a:r>
            <a:endParaRPr kumimoji="0" lang="hu-HU" altLang="hu-HU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 descr="jate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0650" y="1245235"/>
            <a:ext cx="6732905" cy="420497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0" y="0"/>
            <a:ext cx="5706359" cy="998668"/>
          </a:xfrm>
        </p:spPr>
        <p:txBody>
          <a:bodyPr>
            <a:normAutofit fontScale="90000"/>
          </a:bodyPr>
          <a:lstStyle/>
          <a:p>
            <a:r>
              <a:rPr lang="en-US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Karakterek</a:t>
            </a:r>
            <a:r>
              <a:rPr lang="en-US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galéria</a:t>
            </a:r>
            <a:r>
              <a:rPr lang="en-US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7411085" y="0"/>
            <a:ext cx="4780915" cy="3148330"/>
          </a:xfrm>
        </p:spPr>
        <p:txBody>
          <a:bodyPr>
            <a:normAutofit lnSpcReduction="10000"/>
          </a:bodyPr>
          <a:lstStyle/>
          <a:p>
            <a:pPr marL="0" indent="0" algn="r">
              <a:spcBef>
                <a:spcPts val="2500"/>
              </a:spcBef>
              <a:spcAft>
                <a:spcPts val="600"/>
              </a:spcAft>
              <a:buNone/>
            </a:pPr>
            <a:r>
              <a:rPr lang="hu-HU" sz="1800" b="1" dirty="0">
                <a:solidFill>
                  <a:schemeClr val="bg1"/>
                </a:solidFill>
              </a:rPr>
              <a:t>Karakterek</a:t>
            </a:r>
            <a:endParaRPr lang="hu-HU" sz="1800" b="1" dirty="0">
              <a:solidFill>
                <a:schemeClr val="bg1"/>
              </a:solidFill>
            </a:endParaRPr>
          </a:p>
          <a:p>
            <a:pPr marL="0" lvl="1" indent="0" algn="r">
              <a:spcBef>
                <a:spcPts val="1000"/>
              </a:spcBef>
              <a:spcAft>
                <a:spcPts val="600"/>
              </a:spcAft>
              <a:buNone/>
            </a:pPr>
            <a:r>
              <a:rPr lang="hu-HU" sz="1800" dirty="0">
                <a:solidFill>
                  <a:schemeClr val="bg1"/>
                </a:solidFill>
              </a:rPr>
              <a:t>Az oldalon található leírás a főkarakterről és a történet szempontjából a mellék karakterekről és ellenségekről</a:t>
            </a:r>
            <a:endParaRPr lang="hu-HU" sz="1800" dirty="0">
              <a:solidFill>
                <a:schemeClr val="bg1"/>
              </a:solidFill>
            </a:endParaRPr>
          </a:p>
          <a:p>
            <a:pPr marL="0" indent="0" algn="r">
              <a:spcBef>
                <a:spcPts val="2500"/>
              </a:spcBef>
              <a:spcAft>
                <a:spcPts val="600"/>
              </a:spcAft>
              <a:buNone/>
            </a:pPr>
            <a:r>
              <a:rPr lang="hu-HU" sz="1800" b="1" dirty="0">
                <a:solidFill>
                  <a:schemeClr val="bg1"/>
                </a:solidFill>
              </a:rPr>
              <a:t>Animációs effektek</a:t>
            </a:r>
            <a:endParaRPr lang="hu-HU" sz="1800" b="1" dirty="0">
              <a:solidFill>
                <a:schemeClr val="bg1"/>
              </a:solidFill>
            </a:endParaRPr>
          </a:p>
          <a:p>
            <a:pPr marL="0" lvl="1" indent="0" algn="r">
              <a:spcBef>
                <a:spcPts val="1000"/>
              </a:spcBef>
              <a:spcAft>
                <a:spcPts val="600"/>
              </a:spcAft>
              <a:buNone/>
            </a:pPr>
            <a:r>
              <a:rPr lang="hu-HU" sz="1800" dirty="0">
                <a:solidFill>
                  <a:schemeClr val="bg1"/>
                </a:solidFill>
              </a:rPr>
              <a:t>Animációk és </a:t>
            </a:r>
            <a:r>
              <a:rPr lang="hu-HU" sz="1800" dirty="0" err="1">
                <a:solidFill>
                  <a:schemeClr val="bg1"/>
                </a:solidFill>
              </a:rPr>
              <a:t>hover</a:t>
            </a:r>
            <a:r>
              <a:rPr lang="hu-HU" sz="1800" dirty="0">
                <a:solidFill>
                  <a:schemeClr val="bg1"/>
                </a:solidFill>
              </a:rPr>
              <a:t> effektek teszik a böngészést interaktívvá és vizuálisan vonzóvá a felhasználók számára.</a:t>
            </a:r>
            <a:endParaRPr lang="hu-HU" sz="1800" dirty="0">
              <a:solidFill>
                <a:schemeClr val="bg1"/>
              </a:solidFill>
            </a:endParaRPr>
          </a:p>
        </p:txBody>
      </p:sp>
      <p:pic>
        <p:nvPicPr>
          <p:cNvPr id="5" name="Kép 4" descr="A képen pixel, képernyőkép látható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57" y="2544977"/>
            <a:ext cx="2616945" cy="3519340"/>
          </a:xfrm>
          <a:prstGeom prst="rect">
            <a:avLst/>
          </a:prstGeom>
        </p:spPr>
      </p:pic>
      <p:pic>
        <p:nvPicPr>
          <p:cNvPr id="7" name="Kép 6" descr="A képen képernyőkép, pixel látható&#10;&#10;Automatikusan generált leírá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010" y="2544978"/>
            <a:ext cx="2815472" cy="3519340"/>
          </a:xfrm>
          <a:prstGeom prst="rect">
            <a:avLst/>
          </a:prstGeom>
        </p:spPr>
      </p:pic>
      <p:sp>
        <p:nvSpPr>
          <p:cNvPr id="8" name="Szövegdoboz 7"/>
          <p:cNvSpPr txBox="1"/>
          <p:nvPr/>
        </p:nvSpPr>
        <p:spPr>
          <a:xfrm>
            <a:off x="4201160" y="6242050"/>
            <a:ext cx="2235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Borien</a:t>
            </a:r>
            <a:r>
              <a:rPr lang="en-US" dirty="0">
                <a:solidFill>
                  <a:schemeClr val="bg1"/>
                </a:solidFill>
              </a:rPr>
              <a:t> a </a:t>
            </a:r>
            <a:r>
              <a:rPr lang="en-US" dirty="0" err="1">
                <a:solidFill>
                  <a:schemeClr val="bg1"/>
                </a:solidFill>
              </a:rPr>
              <a:t>f</a:t>
            </a:r>
            <a:r>
              <a:rPr lang="hu-HU" altLang="en-US" dirty="0" err="1">
                <a:solidFill>
                  <a:schemeClr val="bg1"/>
                </a:solidFill>
              </a:rPr>
              <a:t>ő</a:t>
            </a:r>
            <a:r>
              <a:rPr lang="en-US" dirty="0" err="1">
                <a:solidFill>
                  <a:schemeClr val="bg1"/>
                </a:solidFill>
              </a:rPr>
              <a:t>karakter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9" name="Szövegdoboz 8"/>
          <p:cNvSpPr txBox="1"/>
          <p:nvPr/>
        </p:nvSpPr>
        <p:spPr>
          <a:xfrm>
            <a:off x="1046376" y="6242117"/>
            <a:ext cx="293173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Brogur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az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egyik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ellens</a:t>
            </a:r>
            <a:r>
              <a:rPr lang="hu-HU" altLang="en-US" dirty="0" err="1">
                <a:solidFill>
                  <a:schemeClr val="bg1"/>
                </a:solidFill>
              </a:rPr>
              <a:t>é</a:t>
            </a:r>
            <a:r>
              <a:rPr lang="en-US" dirty="0" err="1">
                <a:solidFill>
                  <a:schemeClr val="bg1"/>
                </a:solidFill>
              </a:rPr>
              <a:t>g</a:t>
            </a:r>
            <a:endParaRPr lang="hu-HU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Jelenlegi</a:t>
            </a:r>
            <a:r>
              <a:rPr lang="en-US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állapot</a:t>
            </a:r>
            <a:r>
              <a:rPr lang="en-US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működő</a:t>
            </a:r>
            <a:r>
              <a:rPr lang="en-US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oldalak</a:t>
            </a:r>
            <a:r>
              <a:rPr lang="en-US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és</a:t>
            </a:r>
            <a:r>
              <a:rPr lang="en-US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reszponzivitás</a:t>
            </a:r>
            <a:endParaRPr lang="hu-HU" dirty="0">
              <a:solidFill>
                <a:schemeClr val="bg1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1527143"/>
            <a:ext cx="5731497" cy="5312602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2000" b="1" dirty="0">
                <a:solidFill>
                  <a:schemeClr val="bg1"/>
                </a:solidFill>
              </a:rPr>
              <a:t>Mobilbarát kialakítás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endParaRPr lang="hu-HU" sz="2000" b="1" dirty="0">
              <a:solidFill>
                <a:schemeClr val="bg1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2000" dirty="0">
                <a:solidFill>
                  <a:schemeClr val="bg1"/>
                </a:solidFill>
              </a:rPr>
              <a:t>A portál zökkenőmentesen működik minden eszközön, különösen mobiltelefonokon és tableteken.</a:t>
            </a:r>
            <a:endParaRPr lang="hu-HU" sz="2000" dirty="0">
              <a:solidFill>
                <a:schemeClr val="bg1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2000" b="1" dirty="0">
                <a:solidFill>
                  <a:schemeClr val="bg1"/>
                </a:solidFill>
              </a:rPr>
              <a:t>Karakter specifikus színek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endParaRPr lang="hu-HU" sz="2000" b="1" dirty="0">
              <a:solidFill>
                <a:schemeClr val="bg1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2000" dirty="0">
                <a:solidFill>
                  <a:schemeClr val="bg1"/>
                </a:solidFill>
              </a:rPr>
              <a:t>A karakterekhez rendelt egyedi színvilág fokozza a felhasználói élményt és azonosíthatóságot.</a:t>
            </a:r>
            <a:endParaRPr lang="hu-HU" sz="2000" dirty="0">
              <a:solidFill>
                <a:schemeClr val="bg1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2000" b="1" dirty="0">
                <a:solidFill>
                  <a:schemeClr val="bg1"/>
                </a:solidFill>
              </a:rPr>
              <a:t>Működő oldalak elérhetősége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endParaRPr lang="hu-HU" sz="2000" b="1" dirty="0">
              <a:solidFill>
                <a:schemeClr val="bg1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2000" dirty="0">
                <a:solidFill>
                  <a:schemeClr val="bg1"/>
                </a:solidFill>
              </a:rPr>
              <a:t>A portál már működő oldalakat kínál, mint a galéria és a bejelentkezési rendszer, amelyek alapvető funkciókat biztosítanak.</a:t>
            </a:r>
            <a:endParaRPr lang="hu-HU" sz="2000" dirty="0">
              <a:solidFill>
                <a:schemeClr val="bg1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2000" b="1" dirty="0">
                <a:solidFill>
                  <a:schemeClr val="bg1"/>
                </a:solidFill>
              </a:rPr>
              <a:t>Teljes reszponzív megjelenés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endParaRPr lang="hu-HU" sz="2000" b="1" dirty="0">
              <a:solidFill>
                <a:schemeClr val="bg1"/>
              </a:solidFill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hu-HU" sz="2000" dirty="0">
                <a:solidFill>
                  <a:schemeClr val="bg1"/>
                </a:solidFill>
              </a:rPr>
              <a:t>A reszponzív design garantálja a zökkenőmentes használatot minden eszközön, legyen az mobil, tablet vagy asztali számítógép.</a:t>
            </a:r>
            <a:endParaRPr lang="hu-HU" sz="2000" dirty="0">
              <a:solidFill>
                <a:schemeClr val="bg1"/>
              </a:solidFill>
            </a:endParaRPr>
          </a:p>
        </p:txBody>
      </p:sp>
      <p:pic>
        <p:nvPicPr>
          <p:cNvPr id="5" name="Kép 4" descr="A képen szöveg, képernyőkép, Grafikus tervezés, Márka látható&#10;&#10;Automatikusan generált leírás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431" y="984040"/>
            <a:ext cx="3640470" cy="5679403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" y="0"/>
            <a:ext cx="5231875" cy="2234153"/>
          </a:xfrm>
        </p:spPr>
        <p:txBody>
          <a:bodyPr>
            <a:normAutofit fontScale="90000"/>
          </a:bodyPr>
          <a:lstStyle/>
          <a:p>
            <a:r>
              <a:rPr lang="en-US" sz="4400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Következő</a:t>
            </a:r>
            <a:r>
              <a:rPr lang="en-US" sz="44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lépések</a:t>
            </a:r>
            <a:r>
              <a:rPr lang="en-US" sz="44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4400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statisztikai</a:t>
            </a:r>
            <a:r>
              <a:rPr lang="en-US" sz="44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modul</a:t>
            </a:r>
            <a:r>
              <a:rPr lang="en-US" sz="44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4400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pályainformációk</a:t>
            </a:r>
            <a:r>
              <a:rPr lang="en-US" sz="44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és</a:t>
            </a:r>
            <a:r>
              <a:rPr lang="en-US" sz="44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API </a:t>
            </a:r>
            <a:r>
              <a:rPr lang="en-US" sz="4400" b="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integráció</a:t>
            </a:r>
            <a:endParaRPr lang="hu-HU" sz="4400" dirty="0">
              <a:solidFill>
                <a:schemeClr val="bg1"/>
              </a:solidFill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5552387" y="73057"/>
            <a:ext cx="6325386" cy="6711885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hu-HU" sz="1600" b="1" dirty="0">
                <a:solidFill>
                  <a:schemeClr val="bg1"/>
                </a:solidFill>
              </a:rPr>
              <a:t>Statisztikai modul fejlesztése</a:t>
            </a:r>
            <a:endParaRPr lang="hu-HU" sz="1600" b="1" dirty="0">
              <a:solidFill>
                <a:schemeClr val="bg1"/>
              </a:solidFill>
            </a:endParaRPr>
          </a:p>
          <a:p>
            <a:pPr marL="0" lvl="1" indent="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hu-HU" sz="1600" dirty="0">
                <a:solidFill>
                  <a:schemeClr val="bg1"/>
                </a:solidFill>
              </a:rPr>
              <a:t>Bevezetjük a statisztikai modult, amely részletes adatokat és elemzéseket nyújt a felhasználók számára.</a:t>
            </a:r>
            <a:endParaRPr lang="hu-HU" sz="16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spcBef>
                <a:spcPts val="25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hu-HU" sz="1600" b="1" dirty="0">
                <a:solidFill>
                  <a:schemeClr val="bg1"/>
                </a:solidFill>
              </a:rPr>
              <a:t>Pályainformációk megjelenítése</a:t>
            </a:r>
            <a:endParaRPr lang="hu-HU" sz="1600" b="1" dirty="0">
              <a:solidFill>
                <a:schemeClr val="bg1"/>
              </a:solidFill>
            </a:endParaRPr>
          </a:p>
          <a:p>
            <a:pPr marL="0" lvl="1" indent="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hu-HU" sz="1600" dirty="0">
                <a:solidFill>
                  <a:schemeClr val="bg1"/>
                </a:solidFill>
              </a:rPr>
              <a:t>Megjelenítjük a pályainformációkat, hogy a felhasználók könnyen hozzáférhessenek a releváns adatokhoz.</a:t>
            </a:r>
            <a:endParaRPr lang="en-US" sz="1600" dirty="0">
              <a:solidFill>
                <a:schemeClr val="bg1"/>
              </a:solidFill>
            </a:endParaRPr>
          </a:p>
          <a:p>
            <a:pPr marL="0" lvl="1" indent="0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hu-HU" sz="1600" b="1" dirty="0">
                <a:solidFill>
                  <a:schemeClr val="bg1"/>
                </a:solidFill>
              </a:rPr>
              <a:t>Játékmenethez kapcsolódó fejlesztések</a:t>
            </a:r>
            <a:r>
              <a:rPr lang="en-US" sz="1600" b="1" dirty="0">
                <a:solidFill>
                  <a:schemeClr val="bg1"/>
                </a:solidFill>
              </a:rPr>
              <a:t>:</a:t>
            </a:r>
            <a:endParaRPr lang="hu-HU" sz="1600" b="1" dirty="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chemeClr val="bg1"/>
                </a:solidFill>
              </a:rPr>
              <a:t>-</a:t>
            </a:r>
            <a:r>
              <a:rPr lang="hu-HU" sz="1600" b="1" dirty="0">
                <a:solidFill>
                  <a:schemeClr val="bg1"/>
                </a:solidFill>
              </a:rPr>
              <a:t>Pályák fejlesztése</a:t>
            </a:r>
            <a:endParaRPr lang="hu-HU" sz="1600" b="1" dirty="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600" dirty="0">
                <a:solidFill>
                  <a:schemeClr val="bg1"/>
                </a:solidFill>
              </a:rPr>
              <a:t>-A</a:t>
            </a:r>
            <a:r>
              <a:rPr lang="hu-HU" sz="1600" dirty="0">
                <a:solidFill>
                  <a:schemeClr val="bg1"/>
                </a:solidFill>
              </a:rPr>
              <a:t> pályák tervezése</a:t>
            </a:r>
            <a:endParaRPr lang="hu-HU" sz="1600" dirty="0">
              <a:solidFill>
                <a:schemeClr val="bg1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sz="1600" b="1" dirty="0">
                <a:solidFill>
                  <a:schemeClr val="bg1"/>
                </a:solidFill>
              </a:rPr>
              <a:t>-</a:t>
            </a:r>
            <a:r>
              <a:rPr lang="hu-HU" sz="1600" b="1" dirty="0">
                <a:solidFill>
                  <a:schemeClr val="bg1"/>
                </a:solidFill>
              </a:rPr>
              <a:t>Ellenségek megjelenése</a:t>
            </a:r>
            <a:endParaRPr lang="hu-HU" sz="1600" dirty="0">
              <a:solidFill>
                <a:schemeClr val="bg1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solidFill>
                  <a:schemeClr val="bg1"/>
                </a:solidFill>
              </a:rPr>
              <a:t>	-</a:t>
            </a:r>
            <a:r>
              <a:rPr lang="hu-HU" sz="1600" dirty="0">
                <a:solidFill>
                  <a:schemeClr val="bg1"/>
                </a:solidFill>
              </a:rPr>
              <a:t>Karakterdizájn , animációk fejlesztése</a:t>
            </a:r>
            <a:endParaRPr lang="hu-HU" sz="1600" dirty="0">
              <a:solidFill>
                <a:schemeClr val="bg1"/>
              </a:solidFill>
            </a:endParaRPr>
          </a:p>
          <a:p>
            <a:pPr lvl="1">
              <a:lnSpc>
                <a:spcPct val="110000"/>
              </a:lnSpc>
            </a:pPr>
            <a:r>
              <a:rPr lang="en-US" sz="1600" dirty="0">
                <a:solidFill>
                  <a:schemeClr val="bg1"/>
                </a:solidFill>
              </a:rPr>
              <a:t>	-</a:t>
            </a:r>
            <a:r>
              <a:rPr lang="hu-HU" sz="1600" dirty="0">
                <a:solidFill>
                  <a:schemeClr val="bg1"/>
                </a:solidFill>
              </a:rPr>
              <a:t>Különleges képességek fejlesztése</a:t>
            </a:r>
            <a:endParaRPr lang="hu-HU" sz="1600" dirty="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hu-HU" sz="1600" b="1" dirty="0">
                <a:solidFill>
                  <a:schemeClr val="bg1"/>
                </a:solidFill>
              </a:rPr>
              <a:t>Oldalhoz kapcsolódó fejlesztések</a:t>
            </a:r>
            <a:r>
              <a:rPr lang="en-US" sz="1600" b="1" dirty="0">
                <a:solidFill>
                  <a:schemeClr val="bg1"/>
                </a:solidFill>
              </a:rPr>
              <a:t>:</a:t>
            </a:r>
            <a:endParaRPr lang="hu-HU" sz="1600" b="1" dirty="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1600" b="1" dirty="0">
                <a:solidFill>
                  <a:schemeClr val="bg1"/>
                </a:solidFill>
              </a:rPr>
              <a:t>-</a:t>
            </a:r>
            <a:r>
              <a:rPr lang="hu-HU" altLang="en-US" sz="1600" dirty="0">
                <a:solidFill>
                  <a:schemeClr val="bg1"/>
                </a:solidFill>
              </a:rPr>
              <a:t>Felhasználói visszajelzések</a:t>
            </a:r>
            <a:endParaRPr lang="hu-HU" altLang="en-US" sz="1600" dirty="0">
              <a:solidFill>
                <a:schemeClr val="bg1"/>
              </a:solidFill>
            </a:endParaRPr>
          </a:p>
          <a:p>
            <a:pPr>
              <a:lnSpc>
                <a:spcPct val="110000"/>
              </a:lnSpc>
            </a:pPr>
            <a:r>
              <a:rPr lang="hu-HU" altLang="en-US" sz="1600" dirty="0">
                <a:solidFill>
                  <a:schemeClr val="bg1"/>
                </a:solidFill>
              </a:rPr>
              <a:t>-Történet továbbszerkesztése</a:t>
            </a:r>
            <a:endParaRPr lang="hu-HU" sz="1600" dirty="0">
              <a:solidFill>
                <a:schemeClr val="bg1"/>
              </a:solidFill>
            </a:endParaRPr>
          </a:p>
          <a:p>
            <a:pPr lvl="1"/>
            <a:endParaRPr lang="hu-HU" sz="1600" dirty="0">
              <a:solidFill>
                <a:schemeClr val="bg1"/>
              </a:solidFill>
            </a:endParaRPr>
          </a:p>
          <a:p>
            <a:endParaRPr lang="hu-HU" dirty="0">
              <a:solidFill>
                <a:schemeClr val="bg1"/>
              </a:solidFill>
            </a:endParaRPr>
          </a:p>
        </p:txBody>
      </p:sp>
      <p:pic>
        <p:nvPicPr>
          <p:cNvPr id="4" name="Tartalom helye 3" descr="Egy számítógép futurisztikus digitális programja HUD felületet használ egy személyes vezérlőrendszerrel a hálózaton, amelyben a számítógép a felületet használja a felhasználóval való interakcióhoz."/>
          <p:cNvPicPr>
            <a:picLocks noChangeAspect="1"/>
          </p:cNvPicPr>
          <p:nvPr/>
        </p:nvPicPr>
        <p:blipFill>
          <a:blip r:embed="rId1"/>
          <a:srcRect l="15692" r="21943" b="-2"/>
          <a:stretch>
            <a:fillRect/>
          </a:stretch>
        </p:blipFill>
        <p:spPr>
          <a:xfrm>
            <a:off x="314227" y="2234153"/>
            <a:ext cx="4900125" cy="4144746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solidFill>
                  <a:schemeClr val="bg1"/>
                </a:solidFill>
              </a:rPr>
              <a:t>A játékba bekerült funkciók:</a:t>
            </a:r>
            <a:endParaRPr lang="hu-HU" dirty="0">
              <a:solidFill>
                <a:schemeClr val="bg1"/>
              </a:solidFill>
            </a:endParaRPr>
          </a:p>
        </p:txBody>
      </p:sp>
      <p:graphicFrame>
        <p:nvGraphicFramePr>
          <p:cNvPr id="15" name="Tartalom helye 2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605915"/>
            <a:ext cx="12192635" cy="3646170"/>
          </a:xfrm>
        </p:spPr>
        <p:txBody>
          <a:bodyPr>
            <a:normAutofit/>
          </a:bodyPr>
          <a:p>
            <a:pPr algn="ctr"/>
            <a:r>
              <a:rPr lang="hu-HU" altLang="en-GB" sz="5400">
                <a:solidFill>
                  <a:schemeClr val="bg1"/>
                </a:solidFill>
              </a:rPr>
              <a:t>Köszönjük a figyelmet !</a:t>
            </a:r>
            <a:br>
              <a:rPr lang="hu-HU" altLang="en-GB" sz="5400">
                <a:solidFill>
                  <a:schemeClr val="bg1"/>
                </a:solidFill>
              </a:rPr>
            </a:br>
            <a:r>
              <a:rPr lang="hu-HU" altLang="en-GB" sz="5400">
                <a:solidFill>
                  <a:schemeClr val="bg1"/>
                </a:solidFill>
              </a:rPr>
              <a:t>mi voltunk a dmb-projects </a:t>
            </a:r>
            <a:br>
              <a:rPr lang="hu-HU" altLang="en-GB" sz="5400">
                <a:solidFill>
                  <a:schemeClr val="bg1"/>
                </a:solidFill>
              </a:rPr>
            </a:br>
            <a:r>
              <a:rPr lang="hu-HU" altLang="en-GB" sz="5400">
                <a:solidFill>
                  <a:schemeClr val="bg1"/>
                </a:solidFill>
              </a:rPr>
              <a:t>fejlesztő csapata.</a:t>
            </a:r>
            <a:endParaRPr lang="hu-HU" altLang="en-GB" sz="5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3726</Words>
  <Application>WPS Presentation</Application>
  <PresentationFormat>Szélesvásznú</PresentationFormat>
  <Paragraphs>101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Aptos</vt:lpstr>
      <vt:lpstr>Segoe UI</vt:lpstr>
      <vt:lpstr>Aptos Display</vt:lpstr>
      <vt:lpstr>Segoe UI Variable Display</vt:lpstr>
      <vt:lpstr>Microsoft YaHei</vt:lpstr>
      <vt:lpstr>Arial Unicode MS</vt:lpstr>
      <vt:lpstr>Office-téma</vt:lpstr>
      <vt:lpstr>The Pixel Realms</vt:lpstr>
      <vt:lpstr>Prezentáció témái</vt:lpstr>
      <vt:lpstr>A fejlesztő csapat bemutatása</vt:lpstr>
      <vt:lpstr>PowerPoint 演示文稿</vt:lpstr>
      <vt:lpstr>PowerPoint 演示文稿</vt:lpstr>
      <vt:lpstr>Vite fejlesztőkörnyezet és CSS3 technikák</vt:lpstr>
      <vt:lpstr>A WPF (XAML) technológia biztosítja játékunk stabil és rugalmas alapjait:</vt:lpstr>
      <vt:lpstr>Karakterek galéria:</vt:lpstr>
      <vt:lpstr>Jelenlegi állapot: működő oldalak és reszponzivitás</vt:lpstr>
      <vt:lpstr>Következő lépések: statisztikai modul, pályainformációk és API integráció</vt:lpstr>
      <vt:lpstr>A játékba bekerült funkciók:</vt:lpstr>
      <vt:lpstr>Köszönjük a figyelmet ! mi voltunk a dmb-projects  fejlesztő csapata.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Máté Kiss</dc:creator>
  <cp:lastModifiedBy>Máté Kiss</cp:lastModifiedBy>
  <cp:revision>7</cp:revision>
  <dcterms:created xsi:type="dcterms:W3CDTF">2026-03-31T06:17:00Z</dcterms:created>
  <dcterms:modified xsi:type="dcterms:W3CDTF">2026-05-18T04:58:01Z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33DBA2A6758F42DEA4BC09E5BE71187D_12</vt:lpwstr>
  </property>
  <property fmtid="{D5CDD505-2E9C-101B-9397-08002B2CF9AE}" pid="3" name="KSOProductBuildVer">
    <vt:lpwstr>2057-12.2.0.23202</vt:lpwstr>
  </property>
</Properties>
</file>